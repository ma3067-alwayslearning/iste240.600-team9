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Lastica" charset="1" panose="02000500000000000000"/>
      <p:regular r:id="rId18"/>
    </p:embeddedFont>
    <p:embeddedFont>
      <p:font typeface="Poppins" charset="1" panose="00000500000000000000"/>
      <p:regular r:id="rId19"/>
    </p:embeddedFont>
    <p:embeddedFont>
      <p:font typeface="Poppins Bold" charset="1" panose="00000800000000000000"/>
      <p:regular r:id="rId20"/>
    </p:embeddedFont>
    <p:embeddedFont>
      <p:font typeface="TT Chocolates Bold" charset="1" panose="02000803020000020003"/>
      <p:regular r:id="rId21"/>
    </p:embeddedFont>
    <p:embeddedFont>
      <p:font typeface="TT Chocolates" charset="1" panose="020005030200000200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14" Target="../media/image21.png" Type="http://schemas.openxmlformats.org/officeDocument/2006/relationships/image"/><Relationship Id="rId15" Target="../media/image22.svg" Type="http://schemas.openxmlformats.org/officeDocument/2006/relationships/image"/><Relationship Id="rId16" Target="../media/image23.png" Type="http://schemas.openxmlformats.org/officeDocument/2006/relationships/image"/><Relationship Id="rId17" Target="../media/image24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33.png" Type="http://schemas.openxmlformats.org/officeDocument/2006/relationships/image"/><Relationship Id="rId9" Target="../media/image3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37.jpeg" Type="http://schemas.openxmlformats.org/officeDocument/2006/relationships/image"/><Relationship Id="rId8" Target="../media/VAHH-mGQG4Y.mp4" Type="http://schemas.openxmlformats.org/officeDocument/2006/relationships/video"/><Relationship Id="rId9" Target="../media/VAHH-mGQG4Y.mp4" Type="http://schemas.microsoft.com/office/2007/relationships/media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219740" y="3391711"/>
            <a:ext cx="7546070" cy="7543617"/>
          </a:xfrm>
          <a:custGeom>
            <a:avLst/>
            <a:gdLst/>
            <a:ahLst/>
            <a:cxnLst/>
            <a:rect r="r" b="b" t="t" l="l"/>
            <a:pathLst>
              <a:path h="7543617" w="7546070">
                <a:moveTo>
                  <a:pt x="7546071" y="7543617"/>
                </a:moveTo>
                <a:lnTo>
                  <a:pt x="0" y="7543617"/>
                </a:lnTo>
                <a:lnTo>
                  <a:pt x="0" y="0"/>
                </a:lnTo>
                <a:lnTo>
                  <a:pt x="7546071" y="0"/>
                </a:lnTo>
                <a:lnTo>
                  <a:pt x="7546071" y="7543617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07910" y="-209550"/>
            <a:ext cx="7546070" cy="7543617"/>
          </a:xfrm>
          <a:custGeom>
            <a:avLst/>
            <a:gdLst/>
            <a:ahLst/>
            <a:cxnLst/>
            <a:rect r="r" b="b" t="t" l="l"/>
            <a:pathLst>
              <a:path h="7543617" w="7546070">
                <a:moveTo>
                  <a:pt x="0" y="0"/>
                </a:moveTo>
                <a:lnTo>
                  <a:pt x="7546070" y="0"/>
                </a:lnTo>
                <a:lnTo>
                  <a:pt x="7546070" y="7543617"/>
                </a:lnTo>
                <a:lnTo>
                  <a:pt x="0" y="75436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98170" y="4002613"/>
            <a:ext cx="17461757" cy="1455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41"/>
              </a:lnSpc>
              <a:spcBef>
                <a:spcPct val="0"/>
              </a:spcBef>
            </a:pPr>
            <a:r>
              <a:rPr lang="en-US" sz="7958">
                <a:solidFill>
                  <a:srgbClr val="FFFFFF"/>
                </a:solidFill>
                <a:latin typeface="Lastica"/>
                <a:ea typeface="Lastica"/>
                <a:cs typeface="Lastica"/>
                <a:sym typeface="Lastica"/>
              </a:rPr>
              <a:t>FIELDRESERVE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458830" y="5530222"/>
            <a:ext cx="9370339" cy="3728078"/>
            <a:chOff x="0" y="0"/>
            <a:chExt cx="2789686" cy="11099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9686" cy="1109903"/>
            </a:xfrm>
            <a:custGeom>
              <a:avLst/>
              <a:gdLst/>
              <a:ahLst/>
              <a:cxnLst/>
              <a:rect r="r" b="b" t="t" l="l"/>
              <a:pathLst>
                <a:path h="1109903" w="2789686">
                  <a:moveTo>
                    <a:pt x="2586486" y="0"/>
                  </a:moveTo>
                  <a:cubicBezTo>
                    <a:pt x="2698710" y="0"/>
                    <a:pt x="2789686" y="248460"/>
                    <a:pt x="2789686" y="554951"/>
                  </a:cubicBezTo>
                  <a:cubicBezTo>
                    <a:pt x="2789686" y="861442"/>
                    <a:pt x="2698710" y="1109903"/>
                    <a:pt x="2586486" y="1109903"/>
                  </a:cubicBezTo>
                  <a:lnTo>
                    <a:pt x="203200" y="1109903"/>
                  </a:lnTo>
                  <a:cubicBezTo>
                    <a:pt x="90976" y="1109903"/>
                    <a:pt x="0" y="861442"/>
                    <a:pt x="0" y="554951"/>
                  </a:cubicBezTo>
                  <a:cubicBezTo>
                    <a:pt x="0" y="248460"/>
                    <a:pt x="90976" y="0"/>
                    <a:pt x="203200" y="0"/>
                  </a:cubicBezTo>
                  <a:close/>
                </a:path>
              </a:pathLst>
            </a:custGeom>
            <a:ln w="85725" cap="sq">
              <a:solidFill>
                <a:srgbClr val="FCC76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9686" cy="11670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331832" y="1028700"/>
            <a:ext cx="927468" cy="231867"/>
          </a:xfrm>
          <a:custGeom>
            <a:avLst/>
            <a:gdLst/>
            <a:ahLst/>
            <a:cxnLst/>
            <a:rect r="r" b="b" t="t" l="l"/>
            <a:pathLst>
              <a:path h="231867" w="927468">
                <a:moveTo>
                  <a:pt x="0" y="0"/>
                </a:moveTo>
                <a:lnTo>
                  <a:pt x="927468" y="0"/>
                </a:lnTo>
                <a:lnTo>
                  <a:pt x="927468" y="231867"/>
                </a:lnTo>
                <a:lnTo>
                  <a:pt x="0" y="2318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8955042"/>
            <a:ext cx="927468" cy="231867"/>
          </a:xfrm>
          <a:custGeom>
            <a:avLst/>
            <a:gdLst/>
            <a:ahLst/>
            <a:cxnLst/>
            <a:rect r="r" b="b" t="t" l="l"/>
            <a:pathLst>
              <a:path h="231867" w="927468">
                <a:moveTo>
                  <a:pt x="0" y="0"/>
                </a:moveTo>
                <a:lnTo>
                  <a:pt x="927468" y="0"/>
                </a:lnTo>
                <a:lnTo>
                  <a:pt x="927468" y="231866"/>
                </a:lnTo>
                <a:lnTo>
                  <a:pt x="0" y="2318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393779" y="5739681"/>
            <a:ext cx="9500442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CC760"/>
                </a:solidFill>
                <a:latin typeface="Poppins"/>
                <a:ea typeface="Poppins"/>
                <a:cs typeface="Poppins"/>
                <a:sym typeface="Poppins"/>
              </a:rPr>
              <a:t>Done By: Group 9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393779" y="6428656"/>
            <a:ext cx="9500442" cy="3209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CC760"/>
                </a:solidFill>
                <a:latin typeface="Poppins"/>
                <a:ea typeface="Poppins"/>
                <a:cs typeface="Poppins"/>
                <a:sym typeface="Poppins"/>
              </a:rPr>
              <a:t>Members: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CC760"/>
                </a:solidFill>
                <a:latin typeface="Poppins"/>
                <a:ea typeface="Poppins"/>
                <a:cs typeface="Poppins"/>
                <a:sym typeface="Poppins"/>
              </a:rPr>
              <a:t>Osama Ahmad - 764000269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CC760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3000">
                <a:solidFill>
                  <a:srgbClr val="FCC760"/>
                </a:solidFill>
                <a:latin typeface="Poppins"/>
                <a:ea typeface="Poppins"/>
                <a:cs typeface="Poppins"/>
                <a:sym typeface="Poppins"/>
              </a:rPr>
              <a:t>ohammed Adil - 415006855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CC760"/>
                </a:solidFill>
                <a:latin typeface="Poppins"/>
                <a:ea typeface="Poppins"/>
                <a:cs typeface="Poppins"/>
                <a:sym typeface="Poppins"/>
              </a:rPr>
              <a:t>Araz Hafez - 433006827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CC760"/>
                </a:solidFill>
                <a:latin typeface="Poppins"/>
                <a:ea typeface="Poppins"/>
                <a:cs typeface="Poppins"/>
                <a:sym typeface="Poppins"/>
              </a:rPr>
              <a:t>Muhammed Rashid - 421007820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24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291032" y="1028700"/>
            <a:ext cx="7446144" cy="8229600"/>
            <a:chOff x="0" y="0"/>
            <a:chExt cx="964487" cy="10659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4487" cy="1065967"/>
            </a:xfrm>
            <a:custGeom>
              <a:avLst/>
              <a:gdLst/>
              <a:ahLst/>
              <a:cxnLst/>
              <a:rect r="r" b="b" t="t" l="l"/>
              <a:pathLst>
                <a:path h="1065967" w="964487">
                  <a:moveTo>
                    <a:pt x="43668" y="0"/>
                  </a:moveTo>
                  <a:lnTo>
                    <a:pt x="920819" y="0"/>
                  </a:lnTo>
                  <a:cubicBezTo>
                    <a:pt x="944936" y="0"/>
                    <a:pt x="964487" y="19551"/>
                    <a:pt x="964487" y="43668"/>
                  </a:cubicBezTo>
                  <a:lnTo>
                    <a:pt x="964487" y="1022299"/>
                  </a:lnTo>
                  <a:cubicBezTo>
                    <a:pt x="964487" y="1046416"/>
                    <a:pt x="944936" y="1065967"/>
                    <a:pt x="920819" y="1065967"/>
                  </a:cubicBezTo>
                  <a:lnTo>
                    <a:pt x="43668" y="1065967"/>
                  </a:lnTo>
                  <a:cubicBezTo>
                    <a:pt x="32087" y="1065967"/>
                    <a:pt x="20980" y="1061366"/>
                    <a:pt x="12790" y="1053177"/>
                  </a:cubicBezTo>
                  <a:cubicBezTo>
                    <a:pt x="4601" y="1044988"/>
                    <a:pt x="0" y="1033880"/>
                    <a:pt x="0" y="1022299"/>
                  </a:cubicBezTo>
                  <a:lnTo>
                    <a:pt x="0" y="43668"/>
                  </a:lnTo>
                  <a:cubicBezTo>
                    <a:pt x="0" y="19551"/>
                    <a:pt x="19551" y="0"/>
                    <a:pt x="43668" y="0"/>
                  </a:cubicBezTo>
                  <a:close/>
                </a:path>
              </a:pathLst>
            </a:custGeom>
            <a:blipFill>
              <a:blip r:embed="rId2"/>
              <a:stretch>
                <a:fillRect l="-66399" t="0" r="-30083" b="0"/>
              </a:stretch>
            </a:blipFill>
            <a:ln w="66675" cap="rnd">
              <a:solidFill>
                <a:srgbClr val="FCC760"/>
              </a:solidFill>
              <a:prstDash val="solid"/>
              <a:round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8944620" y="452883"/>
            <a:ext cx="1661085" cy="1543299"/>
          </a:xfrm>
          <a:custGeom>
            <a:avLst/>
            <a:gdLst/>
            <a:ahLst/>
            <a:cxnLst/>
            <a:rect r="r" b="b" t="t" l="l"/>
            <a:pathLst>
              <a:path h="1543299" w="1661085">
                <a:moveTo>
                  <a:pt x="0" y="0"/>
                </a:moveTo>
                <a:lnTo>
                  <a:pt x="1661085" y="0"/>
                </a:lnTo>
                <a:lnTo>
                  <a:pt x="1661085" y="1543300"/>
                </a:lnTo>
                <a:lnTo>
                  <a:pt x="0" y="1543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900313" y="7764409"/>
            <a:ext cx="3243687" cy="2522591"/>
          </a:xfrm>
          <a:custGeom>
            <a:avLst/>
            <a:gdLst/>
            <a:ahLst/>
            <a:cxnLst/>
            <a:rect r="r" b="b" t="t" l="l"/>
            <a:pathLst>
              <a:path h="2522591" w="3243687">
                <a:moveTo>
                  <a:pt x="0" y="0"/>
                </a:moveTo>
                <a:lnTo>
                  <a:pt x="3243687" y="0"/>
                </a:lnTo>
                <a:lnTo>
                  <a:pt x="3243687" y="2522591"/>
                </a:lnTo>
                <a:lnTo>
                  <a:pt x="0" y="25225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834258"/>
            <a:ext cx="9168583" cy="9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FFFFFF"/>
                </a:solidFill>
                <a:latin typeface="Lastica"/>
                <a:ea typeface="Lastica"/>
                <a:cs typeface="Lastica"/>
                <a:sym typeface="Lastica"/>
              </a:rPr>
              <a:t>What Is our idea?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895267"/>
            <a:ext cx="8808629" cy="5732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59"/>
              </a:lnSpc>
            </a:pPr>
            <a:r>
              <a:rPr lang="en-US" sz="23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Ou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id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ea is to bu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ild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 </a:t>
            </a:r>
            <a:r>
              <a:rPr lang="en-US" b="true" sz="2328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Digital Field</a:t>
            </a:r>
            <a:r>
              <a:rPr lang="en-US" b="true" sz="2328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B</a:t>
            </a:r>
            <a:r>
              <a:rPr lang="en-US" b="true" sz="2328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oo</a:t>
            </a:r>
            <a:r>
              <a:rPr lang="en-US" b="true" sz="2328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king</a:t>
            </a:r>
            <a:r>
              <a:rPr lang="en-US" b="true" sz="2328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System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alle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b="true" sz="2328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FieldRese</a:t>
            </a:r>
            <a:r>
              <a:rPr lang="en-US" b="true" sz="2328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rv</a:t>
            </a:r>
            <a:r>
              <a:rPr lang="en-US" b="true" sz="2328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just">
              <a:lnSpc>
                <a:spcPts val="3259"/>
              </a:lnSpc>
            </a:pPr>
            <a:r>
              <a:rPr lang="en-US" b="true" sz="2328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FieldRese</a:t>
            </a:r>
            <a:r>
              <a:rPr lang="en-US" b="true" sz="2328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</a:t>
            </a:r>
            <a:r>
              <a:rPr lang="en-US" b="true" sz="2328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ve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is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web-base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ap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at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 that all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ows spor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ts enthusiasts a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nd 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community gr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ou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 to brows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 available spor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ts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elds and submit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booking req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 i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 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simpl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 and confl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ict-free way.</a:t>
            </a:r>
          </a:p>
          <a:p>
            <a:pPr algn="just">
              <a:lnSpc>
                <a:spcPts val="3259"/>
              </a:lnSpc>
            </a:pP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like co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 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sched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ling pla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rm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 or phone calls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ur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system foc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uses on:</a:t>
            </a:r>
          </a:p>
          <a:p>
            <a:pPr algn="just" marL="502716" indent="-251358" lvl="1">
              <a:lnSpc>
                <a:spcPts val="3259"/>
              </a:lnSpc>
              <a:buFont typeface="Arial"/>
              <a:buChar char="•"/>
            </a:pP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Simp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lified 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va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tio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</a:p>
          <a:p>
            <a:pPr algn="just" marL="502716" indent="-251358" lvl="1">
              <a:lnSpc>
                <a:spcPts val="3259"/>
              </a:lnSpc>
              <a:buFont typeface="Arial"/>
              <a:buChar char="•"/>
            </a:pP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Cle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 field availabilit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</a:t>
            </a:r>
          </a:p>
          <a:p>
            <a:pPr algn="just" marL="502716" indent="-251358" lvl="1">
              <a:lnSpc>
                <a:spcPts val="3259"/>
              </a:lnSpc>
              <a:buFont typeface="Arial"/>
              <a:buChar char="•"/>
            </a:pP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istent us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er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sel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ecti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ons</a:t>
            </a:r>
          </a:p>
          <a:p>
            <a:pPr algn="just">
              <a:lnSpc>
                <a:spcPts val="3259"/>
              </a:lnSpc>
            </a:pP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goal 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is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to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provi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 a safe,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asy-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o-use,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nd effi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ci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 solut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 for m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anaging c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ommuni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 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sports field 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reserva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ons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just">
              <a:lnSpc>
                <a:spcPts val="325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24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16080" y="2991113"/>
            <a:ext cx="9055839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50"/>
              </a:lnSpc>
              <a:spcBef>
                <a:spcPct val="0"/>
              </a:spcBef>
            </a:pPr>
            <a:r>
              <a:rPr lang="en-US" sz="5000">
                <a:solidFill>
                  <a:srgbClr val="FFFFFF"/>
                </a:solidFill>
                <a:latin typeface="Lastica"/>
                <a:ea typeface="Lastica"/>
                <a:cs typeface="Lastica"/>
                <a:sym typeface="Lastica"/>
              </a:rPr>
              <a:t>H</a:t>
            </a:r>
            <a:r>
              <a:rPr lang="en-US" sz="5000" strike="noStrike" u="none">
                <a:solidFill>
                  <a:srgbClr val="FFFFFF"/>
                </a:solidFill>
                <a:latin typeface="Lastica"/>
                <a:ea typeface="Lastica"/>
                <a:cs typeface="Lastica"/>
                <a:sym typeface="Lastica"/>
              </a:rPr>
              <a:t>o</a:t>
            </a:r>
            <a:r>
              <a:rPr lang="en-US" sz="5000" strike="noStrike" u="none">
                <a:solidFill>
                  <a:srgbClr val="FFFFFF"/>
                </a:solidFill>
                <a:latin typeface="Lastica"/>
                <a:ea typeface="Lastica"/>
                <a:cs typeface="Lastica"/>
                <a:sym typeface="Lastica"/>
              </a:rPr>
              <a:t>w</a:t>
            </a:r>
            <a:r>
              <a:rPr lang="en-US" sz="5000" strike="noStrike" u="none">
                <a:solidFill>
                  <a:srgbClr val="FFFFFF"/>
                </a:solidFill>
                <a:latin typeface="Lastica"/>
                <a:ea typeface="Lastica"/>
                <a:cs typeface="Lastica"/>
                <a:sym typeface="Lastica"/>
              </a:rPr>
              <a:t> </a:t>
            </a:r>
            <a:r>
              <a:rPr lang="en-US" sz="5000" strike="noStrike" u="none">
                <a:solidFill>
                  <a:srgbClr val="FFFFFF"/>
                </a:solidFill>
                <a:latin typeface="Lastica"/>
                <a:ea typeface="Lastica"/>
                <a:cs typeface="Lastica"/>
                <a:sym typeface="Lastica"/>
              </a:rPr>
              <a:t>W</a:t>
            </a:r>
            <a:r>
              <a:rPr lang="en-US" sz="5000" strike="noStrike" u="none">
                <a:solidFill>
                  <a:srgbClr val="FFFFFF"/>
                </a:solidFill>
                <a:latin typeface="Lastica"/>
                <a:ea typeface="Lastica"/>
                <a:cs typeface="Lastica"/>
                <a:sym typeface="Lastica"/>
              </a:rPr>
              <a:t>ill</a:t>
            </a:r>
            <a:r>
              <a:rPr lang="en-US" sz="5000" strike="noStrike" u="none">
                <a:solidFill>
                  <a:srgbClr val="FFFFFF"/>
                </a:solidFill>
                <a:latin typeface="Lastica"/>
                <a:ea typeface="Lastica"/>
                <a:cs typeface="Lastica"/>
                <a:sym typeface="Lastica"/>
              </a:rPr>
              <a:t> It Work?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870963" y="4514590"/>
            <a:ext cx="4562894" cy="1442531"/>
            <a:chOff x="0" y="0"/>
            <a:chExt cx="1695573" cy="53604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95573" cy="536045"/>
            </a:xfrm>
            <a:custGeom>
              <a:avLst/>
              <a:gdLst/>
              <a:ahLst/>
              <a:cxnLst/>
              <a:rect r="r" b="b" t="t" l="l"/>
              <a:pathLst>
                <a:path h="536045" w="1695573">
                  <a:moveTo>
                    <a:pt x="1492373" y="0"/>
                  </a:moveTo>
                  <a:cubicBezTo>
                    <a:pt x="1604597" y="0"/>
                    <a:pt x="1695573" y="119998"/>
                    <a:pt x="1695573" y="268022"/>
                  </a:cubicBezTo>
                  <a:cubicBezTo>
                    <a:pt x="1695573" y="416047"/>
                    <a:pt x="1604597" y="536045"/>
                    <a:pt x="1492373" y="536045"/>
                  </a:cubicBezTo>
                  <a:lnTo>
                    <a:pt x="203200" y="536045"/>
                  </a:lnTo>
                  <a:cubicBezTo>
                    <a:pt x="90976" y="536045"/>
                    <a:pt x="0" y="416047"/>
                    <a:pt x="0" y="268022"/>
                  </a:cubicBezTo>
                  <a:cubicBezTo>
                    <a:pt x="0" y="119998"/>
                    <a:pt x="90976" y="0"/>
                    <a:pt x="203200" y="0"/>
                  </a:cubicBezTo>
                  <a:close/>
                </a:path>
              </a:pathLst>
            </a:custGeom>
            <a:ln w="85725" cap="sq">
              <a:solidFill>
                <a:srgbClr val="FCC76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695573" cy="593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084032" y="4607840"/>
            <a:ext cx="4140418" cy="1198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Users browse ava</a:t>
            </a: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ilable sports fields through a simple web interface</a:t>
            </a:r>
          </a:p>
        </p:txBody>
      </p:sp>
      <p:sp>
        <p:nvSpPr>
          <p:cNvPr name="Freeform 7" id="7"/>
          <p:cNvSpPr/>
          <p:nvPr/>
        </p:nvSpPr>
        <p:spPr>
          <a:xfrm flipH="true" flipV="true" rot="0">
            <a:off x="15044313" y="0"/>
            <a:ext cx="3243687" cy="2522591"/>
          </a:xfrm>
          <a:custGeom>
            <a:avLst/>
            <a:gdLst/>
            <a:ahLst/>
            <a:cxnLst/>
            <a:rect r="r" b="b" t="t" l="l"/>
            <a:pathLst>
              <a:path h="2522591" w="3243687">
                <a:moveTo>
                  <a:pt x="3243687" y="2522591"/>
                </a:moveTo>
                <a:lnTo>
                  <a:pt x="0" y="2522591"/>
                </a:lnTo>
                <a:lnTo>
                  <a:pt x="0" y="0"/>
                </a:lnTo>
                <a:lnTo>
                  <a:pt x="3243687" y="0"/>
                </a:lnTo>
                <a:lnTo>
                  <a:pt x="3243687" y="252259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0" y="7764409"/>
            <a:ext cx="3243687" cy="2522591"/>
          </a:xfrm>
          <a:custGeom>
            <a:avLst/>
            <a:gdLst/>
            <a:ahLst/>
            <a:cxnLst/>
            <a:rect r="r" b="b" t="t" l="l"/>
            <a:pathLst>
              <a:path h="2522591" w="3243687">
                <a:moveTo>
                  <a:pt x="3243687" y="0"/>
                </a:moveTo>
                <a:lnTo>
                  <a:pt x="0" y="0"/>
                </a:lnTo>
                <a:lnTo>
                  <a:pt x="0" y="2522591"/>
                </a:lnTo>
                <a:lnTo>
                  <a:pt x="3243687" y="2522591"/>
                </a:lnTo>
                <a:lnTo>
                  <a:pt x="324368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862553" y="4514590"/>
            <a:ext cx="4562894" cy="1442531"/>
            <a:chOff x="0" y="0"/>
            <a:chExt cx="1695573" cy="53604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95573" cy="536045"/>
            </a:xfrm>
            <a:custGeom>
              <a:avLst/>
              <a:gdLst/>
              <a:ahLst/>
              <a:cxnLst/>
              <a:rect r="r" b="b" t="t" l="l"/>
              <a:pathLst>
                <a:path h="536045" w="1695573">
                  <a:moveTo>
                    <a:pt x="1492373" y="0"/>
                  </a:moveTo>
                  <a:cubicBezTo>
                    <a:pt x="1604597" y="0"/>
                    <a:pt x="1695573" y="119998"/>
                    <a:pt x="1695573" y="268022"/>
                  </a:cubicBezTo>
                  <a:cubicBezTo>
                    <a:pt x="1695573" y="416047"/>
                    <a:pt x="1604597" y="536045"/>
                    <a:pt x="1492373" y="536045"/>
                  </a:cubicBezTo>
                  <a:lnTo>
                    <a:pt x="203200" y="536045"/>
                  </a:lnTo>
                  <a:cubicBezTo>
                    <a:pt x="90976" y="536045"/>
                    <a:pt x="0" y="416047"/>
                    <a:pt x="0" y="268022"/>
                  </a:cubicBezTo>
                  <a:cubicBezTo>
                    <a:pt x="0" y="119998"/>
                    <a:pt x="90976" y="0"/>
                    <a:pt x="203200" y="0"/>
                  </a:cubicBezTo>
                  <a:close/>
                </a:path>
              </a:pathLst>
            </a:custGeom>
            <a:ln w="85725" cap="sq">
              <a:solidFill>
                <a:srgbClr val="FCC76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695573" cy="593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073791" y="4607840"/>
            <a:ext cx="4140418" cy="1198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Ava</a:t>
            </a: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ilability is displayed automatically based on existing bookings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854072" y="4514590"/>
            <a:ext cx="4562894" cy="1442531"/>
            <a:chOff x="0" y="0"/>
            <a:chExt cx="1695573" cy="53604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95573" cy="536045"/>
            </a:xfrm>
            <a:custGeom>
              <a:avLst/>
              <a:gdLst/>
              <a:ahLst/>
              <a:cxnLst/>
              <a:rect r="r" b="b" t="t" l="l"/>
              <a:pathLst>
                <a:path h="536045" w="1695573">
                  <a:moveTo>
                    <a:pt x="1492373" y="0"/>
                  </a:moveTo>
                  <a:cubicBezTo>
                    <a:pt x="1604597" y="0"/>
                    <a:pt x="1695573" y="119998"/>
                    <a:pt x="1695573" y="268022"/>
                  </a:cubicBezTo>
                  <a:cubicBezTo>
                    <a:pt x="1695573" y="416047"/>
                    <a:pt x="1604597" y="536045"/>
                    <a:pt x="1492373" y="536045"/>
                  </a:cubicBezTo>
                  <a:lnTo>
                    <a:pt x="203200" y="536045"/>
                  </a:lnTo>
                  <a:cubicBezTo>
                    <a:pt x="90976" y="536045"/>
                    <a:pt x="0" y="416047"/>
                    <a:pt x="0" y="268022"/>
                  </a:cubicBezTo>
                  <a:cubicBezTo>
                    <a:pt x="0" y="119998"/>
                    <a:pt x="90976" y="0"/>
                    <a:pt x="203200" y="0"/>
                  </a:cubicBezTo>
                  <a:close/>
                </a:path>
              </a:pathLst>
            </a:custGeom>
            <a:ln w="85725" cap="sq">
              <a:solidFill>
                <a:srgbClr val="FCC76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695573" cy="593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2067141" y="4607840"/>
            <a:ext cx="4140418" cy="1198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Users subm</a:t>
            </a: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it booking requests with selected date and field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4191300" y="6182138"/>
            <a:ext cx="4562894" cy="1442531"/>
            <a:chOff x="0" y="0"/>
            <a:chExt cx="1695573" cy="53604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95573" cy="536045"/>
            </a:xfrm>
            <a:custGeom>
              <a:avLst/>
              <a:gdLst/>
              <a:ahLst/>
              <a:cxnLst/>
              <a:rect r="r" b="b" t="t" l="l"/>
              <a:pathLst>
                <a:path h="536045" w="1695573">
                  <a:moveTo>
                    <a:pt x="1492373" y="0"/>
                  </a:moveTo>
                  <a:cubicBezTo>
                    <a:pt x="1604597" y="0"/>
                    <a:pt x="1695573" y="119998"/>
                    <a:pt x="1695573" y="268022"/>
                  </a:cubicBezTo>
                  <a:cubicBezTo>
                    <a:pt x="1695573" y="416047"/>
                    <a:pt x="1604597" y="536045"/>
                    <a:pt x="1492373" y="536045"/>
                  </a:cubicBezTo>
                  <a:lnTo>
                    <a:pt x="203200" y="536045"/>
                  </a:lnTo>
                  <a:cubicBezTo>
                    <a:pt x="90976" y="536045"/>
                    <a:pt x="0" y="416047"/>
                    <a:pt x="0" y="268022"/>
                  </a:cubicBezTo>
                  <a:cubicBezTo>
                    <a:pt x="0" y="119998"/>
                    <a:pt x="90976" y="0"/>
                    <a:pt x="203200" y="0"/>
                  </a:cubicBezTo>
                  <a:close/>
                </a:path>
              </a:pathLst>
            </a:custGeom>
            <a:ln w="85725" cap="sq">
              <a:solidFill>
                <a:srgbClr val="FCC76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695573" cy="593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4402538" y="6275388"/>
            <a:ext cx="4140418" cy="1198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system va</a:t>
            </a: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lidates requests and prevents basic conflicts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533806" y="6182138"/>
            <a:ext cx="4562894" cy="1442531"/>
            <a:chOff x="0" y="0"/>
            <a:chExt cx="1695573" cy="53604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95573" cy="536045"/>
            </a:xfrm>
            <a:custGeom>
              <a:avLst/>
              <a:gdLst/>
              <a:ahLst/>
              <a:cxnLst/>
              <a:rect r="r" b="b" t="t" l="l"/>
              <a:pathLst>
                <a:path h="536045" w="1695573">
                  <a:moveTo>
                    <a:pt x="1492373" y="0"/>
                  </a:moveTo>
                  <a:cubicBezTo>
                    <a:pt x="1604597" y="0"/>
                    <a:pt x="1695573" y="119998"/>
                    <a:pt x="1695573" y="268022"/>
                  </a:cubicBezTo>
                  <a:cubicBezTo>
                    <a:pt x="1695573" y="416047"/>
                    <a:pt x="1604597" y="536045"/>
                    <a:pt x="1492373" y="536045"/>
                  </a:cubicBezTo>
                  <a:lnTo>
                    <a:pt x="203200" y="536045"/>
                  </a:lnTo>
                  <a:cubicBezTo>
                    <a:pt x="90976" y="536045"/>
                    <a:pt x="0" y="416047"/>
                    <a:pt x="0" y="268022"/>
                  </a:cubicBezTo>
                  <a:cubicBezTo>
                    <a:pt x="0" y="119998"/>
                    <a:pt x="90976" y="0"/>
                    <a:pt x="203200" y="0"/>
                  </a:cubicBezTo>
                  <a:close/>
                </a:path>
              </a:pathLst>
            </a:custGeom>
            <a:ln w="85725" cap="sq">
              <a:solidFill>
                <a:srgbClr val="FCC76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1695573" cy="593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745044" y="6275388"/>
            <a:ext cx="4140418" cy="1198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Send confirmation email to the user including date and time of the booking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24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20548" y="1816574"/>
            <a:ext cx="12646905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50"/>
              </a:lnSpc>
              <a:spcBef>
                <a:spcPct val="0"/>
              </a:spcBef>
            </a:pPr>
            <a:r>
              <a:rPr lang="en-US" sz="5000">
                <a:solidFill>
                  <a:srgbClr val="FFFFFF"/>
                </a:solidFill>
                <a:latin typeface="Lastica"/>
                <a:ea typeface="Lastica"/>
                <a:cs typeface="Lastica"/>
                <a:sym typeface="Lastica"/>
              </a:rPr>
              <a:t>Us</a:t>
            </a:r>
            <a:r>
              <a:rPr lang="en-US" sz="5000">
                <a:solidFill>
                  <a:srgbClr val="FFFFFF"/>
                </a:solidFill>
                <a:latin typeface="Lastica"/>
                <a:ea typeface="Lastica"/>
                <a:cs typeface="Lastica"/>
                <a:sym typeface="Lastica"/>
              </a:rPr>
              <a:t>er Scenario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15044313" y="293564"/>
            <a:ext cx="3243687" cy="2522591"/>
          </a:xfrm>
          <a:custGeom>
            <a:avLst/>
            <a:gdLst/>
            <a:ahLst/>
            <a:cxnLst/>
            <a:rect r="r" b="b" t="t" l="l"/>
            <a:pathLst>
              <a:path h="2522591" w="3243687">
                <a:moveTo>
                  <a:pt x="0" y="2522591"/>
                </a:moveTo>
                <a:lnTo>
                  <a:pt x="3243687" y="2522591"/>
                </a:lnTo>
                <a:lnTo>
                  <a:pt x="3243687" y="0"/>
                </a:lnTo>
                <a:lnTo>
                  <a:pt x="0" y="0"/>
                </a:lnTo>
                <a:lnTo>
                  <a:pt x="0" y="252259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72826" y="3959458"/>
            <a:ext cx="2182054" cy="2205360"/>
            <a:chOff x="0" y="0"/>
            <a:chExt cx="543967" cy="54977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3967" cy="549777"/>
            </a:xfrm>
            <a:custGeom>
              <a:avLst/>
              <a:gdLst/>
              <a:ahLst/>
              <a:cxnLst/>
              <a:rect r="r" b="b" t="t" l="l"/>
              <a:pathLst>
                <a:path h="549777" w="543967">
                  <a:moveTo>
                    <a:pt x="88700" y="0"/>
                  </a:moveTo>
                  <a:lnTo>
                    <a:pt x="455267" y="0"/>
                  </a:lnTo>
                  <a:cubicBezTo>
                    <a:pt x="504255" y="0"/>
                    <a:pt x="543967" y="39712"/>
                    <a:pt x="543967" y="88700"/>
                  </a:cubicBezTo>
                  <a:lnTo>
                    <a:pt x="543967" y="461077"/>
                  </a:lnTo>
                  <a:cubicBezTo>
                    <a:pt x="543967" y="510065"/>
                    <a:pt x="504255" y="549777"/>
                    <a:pt x="455267" y="549777"/>
                  </a:cubicBezTo>
                  <a:lnTo>
                    <a:pt x="88700" y="549777"/>
                  </a:lnTo>
                  <a:cubicBezTo>
                    <a:pt x="39712" y="549777"/>
                    <a:pt x="0" y="510065"/>
                    <a:pt x="0" y="461077"/>
                  </a:cubicBezTo>
                  <a:lnTo>
                    <a:pt x="0" y="88700"/>
                  </a:lnTo>
                  <a:cubicBezTo>
                    <a:pt x="0" y="39712"/>
                    <a:pt x="39712" y="0"/>
                    <a:pt x="887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CC760">
                    <a:alpha val="100000"/>
                  </a:srgbClr>
                </a:gs>
                <a:gs pos="100000">
                  <a:srgbClr val="C88400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57150"/>
              <a:ext cx="543967" cy="492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367180" y="3973914"/>
            <a:ext cx="2182054" cy="2205360"/>
            <a:chOff x="0" y="0"/>
            <a:chExt cx="543967" cy="5497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43967" cy="549777"/>
            </a:xfrm>
            <a:custGeom>
              <a:avLst/>
              <a:gdLst/>
              <a:ahLst/>
              <a:cxnLst/>
              <a:rect r="r" b="b" t="t" l="l"/>
              <a:pathLst>
                <a:path h="549777" w="543967">
                  <a:moveTo>
                    <a:pt x="88700" y="0"/>
                  </a:moveTo>
                  <a:lnTo>
                    <a:pt x="455267" y="0"/>
                  </a:lnTo>
                  <a:cubicBezTo>
                    <a:pt x="504255" y="0"/>
                    <a:pt x="543967" y="39712"/>
                    <a:pt x="543967" y="88700"/>
                  </a:cubicBezTo>
                  <a:lnTo>
                    <a:pt x="543967" y="461077"/>
                  </a:lnTo>
                  <a:cubicBezTo>
                    <a:pt x="543967" y="510065"/>
                    <a:pt x="504255" y="549777"/>
                    <a:pt x="455267" y="549777"/>
                  </a:cubicBezTo>
                  <a:lnTo>
                    <a:pt x="88700" y="549777"/>
                  </a:lnTo>
                  <a:cubicBezTo>
                    <a:pt x="39712" y="549777"/>
                    <a:pt x="0" y="510065"/>
                    <a:pt x="0" y="461077"/>
                  </a:cubicBezTo>
                  <a:lnTo>
                    <a:pt x="0" y="88700"/>
                  </a:lnTo>
                  <a:cubicBezTo>
                    <a:pt x="0" y="39712"/>
                    <a:pt x="39712" y="0"/>
                    <a:pt x="887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CC760">
                    <a:alpha val="100000"/>
                  </a:srgbClr>
                </a:gs>
                <a:gs pos="100000">
                  <a:srgbClr val="C88400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57150"/>
              <a:ext cx="543967" cy="492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358242" y="3973914"/>
            <a:ext cx="2182054" cy="2205360"/>
            <a:chOff x="0" y="0"/>
            <a:chExt cx="543967" cy="54977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43967" cy="549777"/>
            </a:xfrm>
            <a:custGeom>
              <a:avLst/>
              <a:gdLst/>
              <a:ahLst/>
              <a:cxnLst/>
              <a:rect r="r" b="b" t="t" l="l"/>
              <a:pathLst>
                <a:path h="549777" w="543967">
                  <a:moveTo>
                    <a:pt x="88700" y="0"/>
                  </a:moveTo>
                  <a:lnTo>
                    <a:pt x="455267" y="0"/>
                  </a:lnTo>
                  <a:cubicBezTo>
                    <a:pt x="504255" y="0"/>
                    <a:pt x="543967" y="39712"/>
                    <a:pt x="543967" y="88700"/>
                  </a:cubicBezTo>
                  <a:lnTo>
                    <a:pt x="543967" y="461077"/>
                  </a:lnTo>
                  <a:cubicBezTo>
                    <a:pt x="543967" y="510065"/>
                    <a:pt x="504255" y="549777"/>
                    <a:pt x="455267" y="549777"/>
                  </a:cubicBezTo>
                  <a:lnTo>
                    <a:pt x="88700" y="549777"/>
                  </a:lnTo>
                  <a:cubicBezTo>
                    <a:pt x="39712" y="549777"/>
                    <a:pt x="0" y="510065"/>
                    <a:pt x="0" y="461077"/>
                  </a:cubicBezTo>
                  <a:lnTo>
                    <a:pt x="0" y="88700"/>
                  </a:lnTo>
                  <a:cubicBezTo>
                    <a:pt x="0" y="39712"/>
                    <a:pt x="39712" y="0"/>
                    <a:pt x="887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CC760">
                    <a:alpha val="100000"/>
                  </a:srgbClr>
                </a:gs>
                <a:gs pos="100000">
                  <a:srgbClr val="C88400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57150"/>
              <a:ext cx="543967" cy="492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399090" y="3973914"/>
            <a:ext cx="2182054" cy="2205360"/>
            <a:chOff x="0" y="0"/>
            <a:chExt cx="543967" cy="54977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43967" cy="549777"/>
            </a:xfrm>
            <a:custGeom>
              <a:avLst/>
              <a:gdLst/>
              <a:ahLst/>
              <a:cxnLst/>
              <a:rect r="r" b="b" t="t" l="l"/>
              <a:pathLst>
                <a:path h="549777" w="543967">
                  <a:moveTo>
                    <a:pt x="88700" y="0"/>
                  </a:moveTo>
                  <a:lnTo>
                    <a:pt x="455267" y="0"/>
                  </a:lnTo>
                  <a:cubicBezTo>
                    <a:pt x="504255" y="0"/>
                    <a:pt x="543967" y="39712"/>
                    <a:pt x="543967" y="88700"/>
                  </a:cubicBezTo>
                  <a:lnTo>
                    <a:pt x="543967" y="461077"/>
                  </a:lnTo>
                  <a:cubicBezTo>
                    <a:pt x="543967" y="510065"/>
                    <a:pt x="504255" y="549777"/>
                    <a:pt x="455267" y="549777"/>
                  </a:cubicBezTo>
                  <a:lnTo>
                    <a:pt x="88700" y="549777"/>
                  </a:lnTo>
                  <a:cubicBezTo>
                    <a:pt x="39712" y="549777"/>
                    <a:pt x="0" y="510065"/>
                    <a:pt x="0" y="461077"/>
                  </a:cubicBezTo>
                  <a:lnTo>
                    <a:pt x="0" y="88700"/>
                  </a:lnTo>
                  <a:cubicBezTo>
                    <a:pt x="0" y="39712"/>
                    <a:pt x="39712" y="0"/>
                    <a:pt x="887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CC760">
                    <a:alpha val="100000"/>
                  </a:srgbClr>
                </a:gs>
                <a:gs pos="100000">
                  <a:srgbClr val="C88400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57150"/>
              <a:ext cx="543967" cy="492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463408" y="3973914"/>
            <a:ext cx="2182054" cy="2205360"/>
            <a:chOff x="0" y="0"/>
            <a:chExt cx="543967" cy="54977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43967" cy="549777"/>
            </a:xfrm>
            <a:custGeom>
              <a:avLst/>
              <a:gdLst/>
              <a:ahLst/>
              <a:cxnLst/>
              <a:rect r="r" b="b" t="t" l="l"/>
              <a:pathLst>
                <a:path h="549777" w="543967">
                  <a:moveTo>
                    <a:pt x="88700" y="0"/>
                  </a:moveTo>
                  <a:lnTo>
                    <a:pt x="455267" y="0"/>
                  </a:lnTo>
                  <a:cubicBezTo>
                    <a:pt x="504255" y="0"/>
                    <a:pt x="543967" y="39712"/>
                    <a:pt x="543967" y="88700"/>
                  </a:cubicBezTo>
                  <a:lnTo>
                    <a:pt x="543967" y="461077"/>
                  </a:lnTo>
                  <a:cubicBezTo>
                    <a:pt x="543967" y="510065"/>
                    <a:pt x="504255" y="549777"/>
                    <a:pt x="455267" y="549777"/>
                  </a:cubicBezTo>
                  <a:lnTo>
                    <a:pt x="88700" y="549777"/>
                  </a:lnTo>
                  <a:cubicBezTo>
                    <a:pt x="39712" y="549777"/>
                    <a:pt x="0" y="510065"/>
                    <a:pt x="0" y="461077"/>
                  </a:cubicBezTo>
                  <a:lnTo>
                    <a:pt x="0" y="88700"/>
                  </a:lnTo>
                  <a:cubicBezTo>
                    <a:pt x="0" y="39712"/>
                    <a:pt x="39712" y="0"/>
                    <a:pt x="887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CC760">
                    <a:alpha val="100000"/>
                  </a:srgbClr>
                </a:gs>
                <a:gs pos="100000">
                  <a:srgbClr val="C88400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57150"/>
              <a:ext cx="543967" cy="492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5540798" y="3988370"/>
            <a:ext cx="2182054" cy="2205360"/>
            <a:chOff x="0" y="0"/>
            <a:chExt cx="543967" cy="54977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43967" cy="549777"/>
            </a:xfrm>
            <a:custGeom>
              <a:avLst/>
              <a:gdLst/>
              <a:ahLst/>
              <a:cxnLst/>
              <a:rect r="r" b="b" t="t" l="l"/>
              <a:pathLst>
                <a:path h="549777" w="543967">
                  <a:moveTo>
                    <a:pt x="88700" y="0"/>
                  </a:moveTo>
                  <a:lnTo>
                    <a:pt x="455267" y="0"/>
                  </a:lnTo>
                  <a:cubicBezTo>
                    <a:pt x="504255" y="0"/>
                    <a:pt x="543967" y="39712"/>
                    <a:pt x="543967" y="88700"/>
                  </a:cubicBezTo>
                  <a:lnTo>
                    <a:pt x="543967" y="461077"/>
                  </a:lnTo>
                  <a:cubicBezTo>
                    <a:pt x="543967" y="510065"/>
                    <a:pt x="504255" y="549777"/>
                    <a:pt x="455267" y="549777"/>
                  </a:cubicBezTo>
                  <a:lnTo>
                    <a:pt x="88700" y="549777"/>
                  </a:lnTo>
                  <a:cubicBezTo>
                    <a:pt x="39712" y="549777"/>
                    <a:pt x="0" y="510065"/>
                    <a:pt x="0" y="461077"/>
                  </a:cubicBezTo>
                  <a:lnTo>
                    <a:pt x="0" y="88700"/>
                  </a:lnTo>
                  <a:cubicBezTo>
                    <a:pt x="0" y="39712"/>
                    <a:pt x="39712" y="0"/>
                    <a:pt x="887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CC760">
                    <a:alpha val="100000"/>
                  </a:srgbClr>
                </a:gs>
                <a:gs pos="100000">
                  <a:srgbClr val="C88400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57150"/>
              <a:ext cx="543967" cy="492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2722713" y="4750137"/>
            <a:ext cx="544726" cy="798024"/>
          </a:xfrm>
          <a:custGeom>
            <a:avLst/>
            <a:gdLst/>
            <a:ahLst/>
            <a:cxnLst/>
            <a:rect r="r" b="b" t="t" l="l"/>
            <a:pathLst>
              <a:path h="798024" w="544726">
                <a:moveTo>
                  <a:pt x="0" y="0"/>
                </a:moveTo>
                <a:lnTo>
                  <a:pt x="544726" y="0"/>
                </a:lnTo>
                <a:lnTo>
                  <a:pt x="544726" y="798023"/>
                </a:lnTo>
                <a:lnTo>
                  <a:pt x="0" y="7980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5658559" y="4750137"/>
            <a:ext cx="544726" cy="798024"/>
          </a:xfrm>
          <a:custGeom>
            <a:avLst/>
            <a:gdLst/>
            <a:ahLst/>
            <a:cxnLst/>
            <a:rect r="r" b="b" t="t" l="l"/>
            <a:pathLst>
              <a:path h="798024" w="544726">
                <a:moveTo>
                  <a:pt x="0" y="0"/>
                </a:moveTo>
                <a:lnTo>
                  <a:pt x="544726" y="0"/>
                </a:lnTo>
                <a:lnTo>
                  <a:pt x="544726" y="798023"/>
                </a:lnTo>
                <a:lnTo>
                  <a:pt x="0" y="7980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8709064" y="4750137"/>
            <a:ext cx="544726" cy="798024"/>
          </a:xfrm>
          <a:custGeom>
            <a:avLst/>
            <a:gdLst/>
            <a:ahLst/>
            <a:cxnLst/>
            <a:rect r="r" b="b" t="t" l="l"/>
            <a:pathLst>
              <a:path h="798024" w="544726">
                <a:moveTo>
                  <a:pt x="0" y="0"/>
                </a:moveTo>
                <a:lnTo>
                  <a:pt x="544727" y="0"/>
                </a:lnTo>
                <a:lnTo>
                  <a:pt x="544727" y="798023"/>
                </a:lnTo>
                <a:lnTo>
                  <a:pt x="0" y="7980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1751070" y="4750137"/>
            <a:ext cx="544726" cy="798024"/>
          </a:xfrm>
          <a:custGeom>
            <a:avLst/>
            <a:gdLst/>
            <a:ahLst/>
            <a:cxnLst/>
            <a:rect r="r" b="b" t="t" l="l"/>
            <a:pathLst>
              <a:path h="798024" w="544726">
                <a:moveTo>
                  <a:pt x="0" y="0"/>
                </a:moveTo>
                <a:lnTo>
                  <a:pt x="544726" y="0"/>
                </a:lnTo>
                <a:lnTo>
                  <a:pt x="544726" y="798023"/>
                </a:lnTo>
                <a:lnTo>
                  <a:pt x="0" y="7980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4843650" y="4750137"/>
            <a:ext cx="544726" cy="798024"/>
          </a:xfrm>
          <a:custGeom>
            <a:avLst/>
            <a:gdLst/>
            <a:ahLst/>
            <a:cxnLst/>
            <a:rect r="r" b="b" t="t" l="l"/>
            <a:pathLst>
              <a:path h="798024" w="544726">
                <a:moveTo>
                  <a:pt x="0" y="0"/>
                </a:moveTo>
                <a:lnTo>
                  <a:pt x="544726" y="0"/>
                </a:lnTo>
                <a:lnTo>
                  <a:pt x="544726" y="798023"/>
                </a:lnTo>
                <a:lnTo>
                  <a:pt x="0" y="7980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964713" y="4071591"/>
            <a:ext cx="1198281" cy="1938395"/>
          </a:xfrm>
          <a:custGeom>
            <a:avLst/>
            <a:gdLst/>
            <a:ahLst/>
            <a:cxnLst/>
            <a:rect r="r" b="b" t="t" l="l"/>
            <a:pathLst>
              <a:path h="1938395" w="1198281">
                <a:moveTo>
                  <a:pt x="0" y="0"/>
                </a:moveTo>
                <a:lnTo>
                  <a:pt x="1198280" y="0"/>
                </a:lnTo>
                <a:lnTo>
                  <a:pt x="1198280" y="1938395"/>
                </a:lnTo>
                <a:lnTo>
                  <a:pt x="0" y="19383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3527457" y="4045787"/>
            <a:ext cx="1861498" cy="2051751"/>
          </a:xfrm>
          <a:custGeom>
            <a:avLst/>
            <a:gdLst/>
            <a:ahLst/>
            <a:cxnLst/>
            <a:rect r="r" b="b" t="t" l="l"/>
            <a:pathLst>
              <a:path h="2051751" w="1861498">
                <a:moveTo>
                  <a:pt x="0" y="0"/>
                </a:moveTo>
                <a:lnTo>
                  <a:pt x="1861498" y="0"/>
                </a:lnTo>
                <a:lnTo>
                  <a:pt x="1861498" y="2051752"/>
                </a:lnTo>
                <a:lnTo>
                  <a:pt x="0" y="20517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w="38100" cap="sq">
            <a:solidFill>
              <a:srgbClr val="FFFFFF"/>
            </a:solidFill>
            <a:prstDash val="solid"/>
            <a:miter/>
          </a:ln>
        </p:spPr>
      </p:sp>
      <p:sp>
        <p:nvSpPr>
          <p:cNvPr name="Freeform 29" id="29"/>
          <p:cNvSpPr/>
          <p:nvPr/>
        </p:nvSpPr>
        <p:spPr>
          <a:xfrm flipH="false" flipV="false" rot="0">
            <a:off x="6538305" y="4364621"/>
            <a:ext cx="1821927" cy="1580107"/>
          </a:xfrm>
          <a:custGeom>
            <a:avLst/>
            <a:gdLst/>
            <a:ahLst/>
            <a:cxnLst/>
            <a:rect r="r" b="b" t="t" l="l"/>
            <a:pathLst>
              <a:path h="1580107" w="1821927">
                <a:moveTo>
                  <a:pt x="0" y="0"/>
                </a:moveTo>
                <a:lnTo>
                  <a:pt x="1821927" y="0"/>
                </a:lnTo>
                <a:lnTo>
                  <a:pt x="1821927" y="1580107"/>
                </a:lnTo>
                <a:lnTo>
                  <a:pt x="0" y="15801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9706675" y="4067843"/>
            <a:ext cx="1591511" cy="2007639"/>
          </a:xfrm>
          <a:custGeom>
            <a:avLst/>
            <a:gdLst/>
            <a:ahLst/>
            <a:cxnLst/>
            <a:rect r="r" b="b" t="t" l="l"/>
            <a:pathLst>
              <a:path h="2007639" w="1591511">
                <a:moveTo>
                  <a:pt x="0" y="0"/>
                </a:moveTo>
                <a:lnTo>
                  <a:pt x="1591511" y="0"/>
                </a:lnTo>
                <a:lnTo>
                  <a:pt x="1591511" y="2007640"/>
                </a:lnTo>
                <a:lnTo>
                  <a:pt x="0" y="200764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2513871" y="4362187"/>
            <a:ext cx="2081129" cy="1418951"/>
          </a:xfrm>
          <a:custGeom>
            <a:avLst/>
            <a:gdLst/>
            <a:ahLst/>
            <a:cxnLst/>
            <a:rect r="r" b="b" t="t" l="l"/>
            <a:pathLst>
              <a:path h="1418951" w="2081129">
                <a:moveTo>
                  <a:pt x="0" y="0"/>
                </a:moveTo>
                <a:lnTo>
                  <a:pt x="2081128" y="0"/>
                </a:lnTo>
                <a:lnTo>
                  <a:pt x="2081128" y="1418952"/>
                </a:lnTo>
                <a:lnTo>
                  <a:pt x="0" y="141895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5655076" y="4134417"/>
            <a:ext cx="1987831" cy="1884355"/>
          </a:xfrm>
          <a:custGeom>
            <a:avLst/>
            <a:gdLst/>
            <a:ahLst/>
            <a:cxnLst/>
            <a:rect r="r" b="b" t="t" l="l"/>
            <a:pathLst>
              <a:path h="1884355" w="1987831">
                <a:moveTo>
                  <a:pt x="0" y="0"/>
                </a:moveTo>
                <a:lnTo>
                  <a:pt x="1987831" y="0"/>
                </a:lnTo>
                <a:lnTo>
                  <a:pt x="1987831" y="1884354"/>
                </a:lnTo>
                <a:lnTo>
                  <a:pt x="0" y="188435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60353" y="6583018"/>
            <a:ext cx="2807000" cy="38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05"/>
              </a:lnSpc>
            </a:pPr>
            <a:r>
              <a:rPr lang="en-US" b="true" sz="2641">
                <a:solidFill>
                  <a:srgbClr val="FFFBF7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Open FieldReserve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27526" y="7095076"/>
            <a:ext cx="2472653" cy="591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24"/>
              </a:lnSpc>
            </a:pPr>
            <a:r>
              <a:rPr lang="en-US" sz="2112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A</a:t>
            </a:r>
            <a:r>
              <a:rPr lang="en-US" sz="2112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 user opens FieldReserve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054706" y="6597474"/>
            <a:ext cx="2807000" cy="38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05"/>
              </a:lnSpc>
            </a:pPr>
            <a:r>
              <a:rPr lang="en-US" b="true" sz="2641">
                <a:solidFill>
                  <a:srgbClr val="FFFBF7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Availability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221880" y="7109532"/>
            <a:ext cx="2472653" cy="883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24"/>
              </a:lnSpc>
            </a:pPr>
            <a:r>
              <a:rPr lang="en-US" sz="2112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Th</a:t>
            </a:r>
            <a:r>
              <a:rPr lang="en-US" sz="2112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e user checks available field-related information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917109" y="6597474"/>
            <a:ext cx="3064318" cy="38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05"/>
              </a:lnSpc>
            </a:pPr>
            <a:r>
              <a:rPr lang="en-US" b="true" sz="2641">
                <a:solidFill>
                  <a:srgbClr val="FFFBF7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Submit/Manage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212942" y="7109532"/>
            <a:ext cx="2472653" cy="883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24"/>
              </a:lnSpc>
            </a:pPr>
            <a:r>
              <a:rPr lang="en-US" sz="2112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T</a:t>
            </a:r>
            <a:r>
              <a:rPr lang="en-US" sz="2112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he user submits or manages a reservation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022287" y="6597474"/>
            <a:ext cx="3064318" cy="38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05"/>
              </a:lnSpc>
            </a:pPr>
            <a:r>
              <a:rPr lang="en-US" b="true" sz="2641">
                <a:solidFill>
                  <a:srgbClr val="FFFBF7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Stores Data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253791" y="7109532"/>
            <a:ext cx="2472653" cy="883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24"/>
              </a:lnSpc>
            </a:pPr>
            <a:r>
              <a:rPr lang="en-US" sz="2112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The system sto</a:t>
            </a:r>
            <a:r>
              <a:rPr lang="en-US" sz="2112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res the data in the backend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222860" y="6597474"/>
            <a:ext cx="2807000" cy="38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05"/>
              </a:lnSpc>
            </a:pPr>
            <a:r>
              <a:rPr lang="en-US" b="true" sz="2641">
                <a:solidFill>
                  <a:srgbClr val="FFFBF7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View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144327" y="7109532"/>
            <a:ext cx="2820217" cy="883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24"/>
              </a:lnSpc>
            </a:pPr>
            <a:r>
              <a:rPr lang="en-US" sz="2112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The man</a:t>
            </a:r>
            <a:r>
              <a:rPr lang="en-US" sz="2112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ager can view, update, search, or delete records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5228325" y="6611930"/>
            <a:ext cx="2807000" cy="38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05"/>
              </a:lnSpc>
            </a:pPr>
            <a:r>
              <a:rPr lang="en-US" b="true" sz="2641">
                <a:solidFill>
                  <a:srgbClr val="FFFBF7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Keep Data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5395498" y="7123988"/>
            <a:ext cx="2472653" cy="1175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24"/>
              </a:lnSpc>
            </a:pPr>
            <a:r>
              <a:rPr lang="en-US" sz="2112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Th</a:t>
            </a:r>
            <a:r>
              <a:rPr lang="en-US" sz="2112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e application keeps the booking data organized through the database</a:t>
            </a:r>
          </a:p>
        </p:txBody>
      </p:sp>
      <p:sp>
        <p:nvSpPr>
          <p:cNvPr name="Freeform 45" id="45"/>
          <p:cNvSpPr/>
          <p:nvPr/>
        </p:nvSpPr>
        <p:spPr>
          <a:xfrm flipH="false" flipV="true" rot="10149922">
            <a:off x="-484515" y="7482028"/>
            <a:ext cx="3243687" cy="2522591"/>
          </a:xfrm>
          <a:custGeom>
            <a:avLst/>
            <a:gdLst/>
            <a:ahLst/>
            <a:cxnLst/>
            <a:rect r="r" b="b" t="t" l="l"/>
            <a:pathLst>
              <a:path h="2522591" w="3243687">
                <a:moveTo>
                  <a:pt x="0" y="2522590"/>
                </a:moveTo>
                <a:lnTo>
                  <a:pt x="3243687" y="2522590"/>
                </a:lnTo>
                <a:lnTo>
                  <a:pt x="3243687" y="0"/>
                </a:lnTo>
                <a:lnTo>
                  <a:pt x="0" y="0"/>
                </a:lnTo>
                <a:lnTo>
                  <a:pt x="0" y="252259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24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74895" y="1450084"/>
            <a:ext cx="13938211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50"/>
              </a:lnSpc>
              <a:spcBef>
                <a:spcPct val="0"/>
              </a:spcBef>
            </a:pPr>
            <a:r>
              <a:rPr lang="en-US" sz="5000">
                <a:solidFill>
                  <a:srgbClr val="FFFFFF"/>
                </a:solidFill>
                <a:latin typeface="Lastica"/>
                <a:ea typeface="Lastica"/>
                <a:cs typeface="Lastica"/>
                <a:sym typeface="Lastica"/>
              </a:rPr>
              <a:t>App</a:t>
            </a:r>
            <a:r>
              <a:rPr lang="en-US" sz="5000">
                <a:solidFill>
                  <a:srgbClr val="FFFFFF"/>
                </a:solidFill>
                <a:latin typeface="Lastica"/>
                <a:ea typeface="Lastica"/>
                <a:cs typeface="Lastica"/>
                <a:sym typeface="Lastica"/>
              </a:rPr>
              <a:t>lication Architecture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29242" y="3768725"/>
            <a:ext cx="7114217" cy="219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Spri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ng Boot application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REST co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trollers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Service classes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Repository interfaces</a:t>
            </a:r>
          </a:p>
          <a:p>
            <a:pPr algn="just">
              <a:lnSpc>
                <a:spcPts val="349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529242" y="3188161"/>
            <a:ext cx="2509692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CC760"/>
                </a:solidFill>
                <a:latin typeface="Poppins"/>
                <a:ea typeface="Poppins"/>
                <a:cs typeface="Poppins"/>
                <a:sym typeface="Poppins"/>
              </a:rPr>
              <a:t>Backend Layer: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586892" y="6695674"/>
            <a:ext cx="7114217" cy="219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MySQL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database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Database name: i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e240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JPA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entity c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asses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Spring Data 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JPA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re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pos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ito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ri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</a:t>
            </a:r>
          </a:p>
          <a:p>
            <a:pPr algn="just">
              <a:lnSpc>
                <a:spcPts val="349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5586892" y="6115110"/>
            <a:ext cx="3086274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CC760"/>
                </a:solidFill>
                <a:latin typeface="Poppins"/>
                <a:ea typeface="Poppins"/>
                <a:cs typeface="Poppins"/>
                <a:sym typeface="Poppins"/>
              </a:rPr>
              <a:t>Database Layer: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44542" y="3768725"/>
            <a:ext cx="7114217" cy="219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Stan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dalone HTML pages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CSS / Bootstrap styling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JavaScript using fetc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h()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For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ms, ta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les, buttons, and searc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inputs</a:t>
            </a:r>
          </a:p>
          <a:p>
            <a:pPr algn="just">
              <a:lnSpc>
                <a:spcPts val="349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9644542" y="3188161"/>
            <a:ext cx="2627965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CC760"/>
                </a:solidFill>
                <a:latin typeface="Poppins"/>
                <a:ea typeface="Poppins"/>
                <a:cs typeface="Poppins"/>
                <a:sym typeface="Poppins"/>
              </a:rPr>
              <a:t>Frontend Layer:</a:t>
            </a:r>
          </a:p>
        </p:txBody>
      </p:sp>
      <p:sp>
        <p:nvSpPr>
          <p:cNvPr name="Freeform 9" id="9"/>
          <p:cNvSpPr/>
          <p:nvPr/>
        </p:nvSpPr>
        <p:spPr>
          <a:xfrm flipH="false" flipV="true" rot="0">
            <a:off x="15044313" y="293564"/>
            <a:ext cx="3243687" cy="2522591"/>
          </a:xfrm>
          <a:custGeom>
            <a:avLst/>
            <a:gdLst/>
            <a:ahLst/>
            <a:cxnLst/>
            <a:rect r="r" b="b" t="t" l="l"/>
            <a:pathLst>
              <a:path h="2522591" w="3243687">
                <a:moveTo>
                  <a:pt x="0" y="2522591"/>
                </a:moveTo>
                <a:lnTo>
                  <a:pt x="3243687" y="2522591"/>
                </a:lnTo>
                <a:lnTo>
                  <a:pt x="3243687" y="0"/>
                </a:lnTo>
                <a:lnTo>
                  <a:pt x="0" y="0"/>
                </a:lnTo>
                <a:lnTo>
                  <a:pt x="0" y="252259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10149922">
            <a:off x="-484515" y="7482028"/>
            <a:ext cx="3243687" cy="2522591"/>
          </a:xfrm>
          <a:custGeom>
            <a:avLst/>
            <a:gdLst/>
            <a:ahLst/>
            <a:cxnLst/>
            <a:rect r="r" b="b" t="t" l="l"/>
            <a:pathLst>
              <a:path h="2522591" w="3243687">
                <a:moveTo>
                  <a:pt x="0" y="2522590"/>
                </a:moveTo>
                <a:lnTo>
                  <a:pt x="3243687" y="2522590"/>
                </a:lnTo>
                <a:lnTo>
                  <a:pt x="3243687" y="0"/>
                </a:lnTo>
                <a:lnTo>
                  <a:pt x="0" y="0"/>
                </a:lnTo>
                <a:lnTo>
                  <a:pt x="0" y="252259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24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291032" y="1028700"/>
            <a:ext cx="7446144" cy="8229600"/>
            <a:chOff x="0" y="0"/>
            <a:chExt cx="964487" cy="10659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4487" cy="1065967"/>
            </a:xfrm>
            <a:custGeom>
              <a:avLst/>
              <a:gdLst/>
              <a:ahLst/>
              <a:cxnLst/>
              <a:rect r="r" b="b" t="t" l="l"/>
              <a:pathLst>
                <a:path h="1065967" w="964487">
                  <a:moveTo>
                    <a:pt x="43668" y="0"/>
                  </a:moveTo>
                  <a:lnTo>
                    <a:pt x="920819" y="0"/>
                  </a:lnTo>
                  <a:cubicBezTo>
                    <a:pt x="944936" y="0"/>
                    <a:pt x="964487" y="19551"/>
                    <a:pt x="964487" y="43668"/>
                  </a:cubicBezTo>
                  <a:lnTo>
                    <a:pt x="964487" y="1022299"/>
                  </a:lnTo>
                  <a:cubicBezTo>
                    <a:pt x="964487" y="1046416"/>
                    <a:pt x="944936" y="1065967"/>
                    <a:pt x="920819" y="1065967"/>
                  </a:cubicBezTo>
                  <a:lnTo>
                    <a:pt x="43668" y="1065967"/>
                  </a:lnTo>
                  <a:cubicBezTo>
                    <a:pt x="32087" y="1065967"/>
                    <a:pt x="20980" y="1061366"/>
                    <a:pt x="12790" y="1053177"/>
                  </a:cubicBezTo>
                  <a:cubicBezTo>
                    <a:pt x="4601" y="1044988"/>
                    <a:pt x="0" y="1033880"/>
                    <a:pt x="0" y="1022299"/>
                  </a:cubicBezTo>
                  <a:lnTo>
                    <a:pt x="0" y="43668"/>
                  </a:lnTo>
                  <a:cubicBezTo>
                    <a:pt x="0" y="19551"/>
                    <a:pt x="19551" y="0"/>
                    <a:pt x="43668" y="0"/>
                  </a:cubicBezTo>
                  <a:close/>
                </a:path>
              </a:pathLst>
            </a:custGeom>
            <a:blipFill>
              <a:blip r:embed="rId2"/>
              <a:stretch>
                <a:fillRect l="-54020" t="0" r="-54020" b="0"/>
              </a:stretch>
            </a:blipFill>
            <a:ln w="66675" cap="rnd">
              <a:solidFill>
                <a:srgbClr val="FCC760"/>
              </a:solidFill>
              <a:prstDash val="solid"/>
              <a:round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8944620" y="452883"/>
            <a:ext cx="1661085" cy="1543299"/>
          </a:xfrm>
          <a:custGeom>
            <a:avLst/>
            <a:gdLst/>
            <a:ahLst/>
            <a:cxnLst/>
            <a:rect r="r" b="b" t="t" l="l"/>
            <a:pathLst>
              <a:path h="1543299" w="1661085">
                <a:moveTo>
                  <a:pt x="0" y="0"/>
                </a:moveTo>
                <a:lnTo>
                  <a:pt x="1661085" y="0"/>
                </a:lnTo>
                <a:lnTo>
                  <a:pt x="1661085" y="1543300"/>
                </a:lnTo>
                <a:lnTo>
                  <a:pt x="0" y="1543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900313" y="7764409"/>
            <a:ext cx="3243687" cy="2522591"/>
          </a:xfrm>
          <a:custGeom>
            <a:avLst/>
            <a:gdLst/>
            <a:ahLst/>
            <a:cxnLst/>
            <a:rect r="r" b="b" t="t" l="l"/>
            <a:pathLst>
              <a:path h="2522591" w="3243687">
                <a:moveTo>
                  <a:pt x="0" y="0"/>
                </a:moveTo>
                <a:lnTo>
                  <a:pt x="3243687" y="0"/>
                </a:lnTo>
                <a:lnTo>
                  <a:pt x="3243687" y="2522591"/>
                </a:lnTo>
                <a:lnTo>
                  <a:pt x="0" y="25225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2055835"/>
            <a:ext cx="9168583" cy="703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FFFFFF"/>
                </a:solidFill>
                <a:latin typeface="Lastica"/>
                <a:ea typeface="Lastica"/>
                <a:cs typeface="Lastica"/>
                <a:sym typeface="Lastica"/>
              </a:rPr>
              <a:t>B</a:t>
            </a:r>
            <a:r>
              <a:rPr lang="en-US" sz="3800">
                <a:solidFill>
                  <a:srgbClr val="FFFFFF"/>
                </a:solidFill>
                <a:latin typeface="Lastica"/>
                <a:ea typeface="Lastica"/>
                <a:cs typeface="Lastica"/>
                <a:sym typeface="Lastica"/>
              </a:rPr>
              <a:t>ackend Request Flow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895267"/>
            <a:ext cx="8808629" cy="4503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59"/>
              </a:lnSpc>
            </a:pPr>
            <a:r>
              <a:rPr lang="en-US" sz="23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Example: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User</a:t>
            </a:r>
          </a:p>
          <a:p>
            <a:pPr algn="just">
              <a:lnSpc>
                <a:spcPts val="3259"/>
              </a:lnSpc>
            </a:pPr>
          </a:p>
          <a:p>
            <a:pPr algn="l" marL="502716" indent="-251358" lvl="1">
              <a:lnSpc>
                <a:spcPts val="3259"/>
              </a:lnSpc>
              <a:buAutoNum type="arabicPeriod" startAt="1"/>
            </a:pP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User fil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ls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rm 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user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.h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tm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</a:p>
          <a:p>
            <a:pPr algn="l" marL="502716" indent="-251358" lvl="1">
              <a:lnSpc>
                <a:spcPts val="3259"/>
              </a:lnSpc>
              <a:buAutoNum type="arabicPeriod" startAt="1"/>
            </a:pPr>
            <a:r>
              <a:rPr lang="en-US" b="true" sz="2328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Ja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aSc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ipt sends a POST request using fetch()</a:t>
            </a:r>
          </a:p>
          <a:p>
            <a:pPr algn="l" marL="502716" indent="-251358" lvl="1">
              <a:lnSpc>
                <a:spcPts val="3259"/>
              </a:lnSpc>
              <a:buAutoNum type="arabicPeriod" startAt="1"/>
            </a:pP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UserRe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stContro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ller rece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iv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 the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req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</a:t>
            </a:r>
          </a:p>
          <a:p>
            <a:pPr algn="l" marL="502716" indent="-251358" lvl="1">
              <a:lnSpc>
                <a:spcPts val="3259"/>
              </a:lnSpc>
              <a:buAutoNum type="arabicPeriod" startAt="1"/>
            </a:pP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serServ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ice app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lies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t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he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b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usin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ess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lo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gic</a:t>
            </a:r>
          </a:p>
          <a:p>
            <a:pPr algn="l" marL="502716" indent="-251358" lvl="1">
              <a:lnSpc>
                <a:spcPts val="3259"/>
              </a:lnSpc>
              <a:buAutoNum type="arabicPeriod" startAt="1"/>
            </a:pP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pos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it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ory s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ave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rd 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using JPA</a:t>
            </a:r>
          </a:p>
          <a:p>
            <a:pPr algn="l" marL="502716" indent="-251358" lvl="1">
              <a:lnSpc>
                <a:spcPts val="3259"/>
              </a:lnSpc>
              <a:buAutoNum type="arabicPeriod" startAt="1"/>
            </a:pP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MySQL 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sto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 the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 in the users table</a:t>
            </a:r>
          </a:p>
          <a:p>
            <a:pPr algn="l" marL="502716" indent="-251358" lvl="1">
              <a:lnSpc>
                <a:spcPts val="3259"/>
              </a:lnSpc>
              <a:buAutoNum type="arabicPeriod" startAt="1"/>
            </a:pP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fro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end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ref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sh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table 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sh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ws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 success messa</a:t>
            </a:r>
            <a:r>
              <a:rPr lang="en-US" sz="2328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</a:t>
            </a:r>
          </a:p>
          <a:p>
            <a:pPr algn="just">
              <a:lnSpc>
                <a:spcPts val="325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24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99613" y="1054889"/>
            <a:ext cx="13681796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50"/>
              </a:lnSpc>
              <a:spcBef>
                <a:spcPct val="0"/>
              </a:spcBef>
            </a:pPr>
            <a:r>
              <a:rPr lang="en-US" sz="5000">
                <a:solidFill>
                  <a:srgbClr val="FFFFFF"/>
                </a:solidFill>
                <a:latin typeface="Lastica"/>
                <a:ea typeface="Lastica"/>
                <a:cs typeface="Lastica"/>
                <a:sym typeface="Lastica"/>
              </a:rPr>
              <a:t>Datab</a:t>
            </a:r>
            <a:r>
              <a:rPr lang="en-US" sz="5000">
                <a:solidFill>
                  <a:srgbClr val="FFFFFF"/>
                </a:solidFill>
                <a:latin typeface="Lastica"/>
                <a:ea typeface="Lastica"/>
                <a:cs typeface="Lastica"/>
                <a:sym typeface="Lastica"/>
              </a:rPr>
              <a:t>ase and Data Model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690027" y="2734136"/>
            <a:ext cx="7114217" cy="350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userId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fullNa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mail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phone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password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cre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tedAt</a:t>
            </a:r>
          </a:p>
          <a:p>
            <a:pPr algn="just">
              <a:lnSpc>
                <a:spcPts val="349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2690027" y="2153571"/>
            <a:ext cx="2199224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CC760"/>
                </a:solidFill>
                <a:latin typeface="Poppins"/>
                <a:ea typeface="Poppins"/>
                <a:cs typeface="Poppins"/>
                <a:sym typeface="Poppins"/>
              </a:rPr>
              <a:t>User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90027" y="6626225"/>
            <a:ext cx="7114217" cy="263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ieldID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fieldName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fieldLocation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rlyRate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availabilityStatu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</a:p>
          <a:p>
            <a:pPr algn="just">
              <a:lnSpc>
                <a:spcPts val="349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690027" y="6045661"/>
            <a:ext cx="2199224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CC760"/>
                </a:solidFill>
                <a:latin typeface="Poppins"/>
                <a:ea typeface="Poppins"/>
                <a:cs typeface="Poppins"/>
                <a:sym typeface="Poppins"/>
              </a:rPr>
              <a:t>Fie</a:t>
            </a:r>
            <a:r>
              <a:rPr lang="en-US" sz="2499">
                <a:solidFill>
                  <a:srgbClr val="FCC760"/>
                </a:solidFill>
                <a:latin typeface="Poppins"/>
                <a:ea typeface="Poppins"/>
                <a:cs typeface="Poppins"/>
                <a:sym typeface="Poppins"/>
              </a:rPr>
              <a:t>ld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45083" y="2734136"/>
            <a:ext cx="7114217" cy="350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reservationID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reservationDate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startTime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endTime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totalCost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reservationStatus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paymentStatus</a:t>
            </a:r>
          </a:p>
          <a:p>
            <a:pPr algn="just">
              <a:lnSpc>
                <a:spcPts val="349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145083" y="2153571"/>
            <a:ext cx="2199224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CC760"/>
                </a:solidFill>
                <a:latin typeface="Poppins"/>
                <a:ea typeface="Poppins"/>
                <a:cs typeface="Poppins"/>
                <a:sym typeface="Poppins"/>
              </a:rPr>
              <a:t>Reservation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45083" y="6626225"/>
            <a:ext cx="7114217" cy="219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locationID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locationName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location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loc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tionCit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</a:t>
            </a:r>
          </a:p>
          <a:p>
            <a:pPr algn="just">
              <a:lnSpc>
                <a:spcPts val="349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145083" y="6045661"/>
            <a:ext cx="2199224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CC760"/>
                </a:solidFill>
                <a:latin typeface="Poppins"/>
                <a:ea typeface="Poppins"/>
                <a:cs typeface="Poppins"/>
                <a:sym typeface="Poppins"/>
              </a:rPr>
              <a:t>Locat</a:t>
            </a:r>
            <a:r>
              <a:rPr lang="en-US" sz="2499">
                <a:solidFill>
                  <a:srgbClr val="FCC760"/>
                </a:solidFill>
                <a:latin typeface="Poppins"/>
                <a:ea typeface="Poppins"/>
                <a:cs typeface="Poppins"/>
                <a:sym typeface="Poppins"/>
              </a:rPr>
              <a:t>ion</a:t>
            </a:r>
          </a:p>
        </p:txBody>
      </p:sp>
      <p:sp>
        <p:nvSpPr>
          <p:cNvPr name="Freeform 11" id="11"/>
          <p:cNvSpPr/>
          <p:nvPr/>
        </p:nvSpPr>
        <p:spPr>
          <a:xfrm flipH="false" flipV="true" rot="0">
            <a:off x="15044313" y="293564"/>
            <a:ext cx="3243687" cy="2522591"/>
          </a:xfrm>
          <a:custGeom>
            <a:avLst/>
            <a:gdLst/>
            <a:ahLst/>
            <a:cxnLst/>
            <a:rect r="r" b="b" t="t" l="l"/>
            <a:pathLst>
              <a:path h="2522591" w="3243687">
                <a:moveTo>
                  <a:pt x="0" y="2522591"/>
                </a:moveTo>
                <a:lnTo>
                  <a:pt x="3243687" y="2522591"/>
                </a:lnTo>
                <a:lnTo>
                  <a:pt x="3243687" y="0"/>
                </a:lnTo>
                <a:lnTo>
                  <a:pt x="0" y="0"/>
                </a:lnTo>
                <a:lnTo>
                  <a:pt x="0" y="252259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10149922">
            <a:off x="-484515" y="7482028"/>
            <a:ext cx="3243687" cy="2522591"/>
          </a:xfrm>
          <a:custGeom>
            <a:avLst/>
            <a:gdLst/>
            <a:ahLst/>
            <a:cxnLst/>
            <a:rect r="r" b="b" t="t" l="l"/>
            <a:pathLst>
              <a:path h="2522591" w="3243687">
                <a:moveTo>
                  <a:pt x="0" y="2522590"/>
                </a:moveTo>
                <a:lnTo>
                  <a:pt x="3243687" y="2522590"/>
                </a:lnTo>
                <a:lnTo>
                  <a:pt x="3243687" y="0"/>
                </a:lnTo>
                <a:lnTo>
                  <a:pt x="0" y="0"/>
                </a:lnTo>
                <a:lnTo>
                  <a:pt x="0" y="252259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24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191351" y="1028700"/>
            <a:ext cx="7446144" cy="8229600"/>
            <a:chOff x="0" y="0"/>
            <a:chExt cx="964487" cy="10659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4487" cy="1065967"/>
            </a:xfrm>
            <a:custGeom>
              <a:avLst/>
              <a:gdLst/>
              <a:ahLst/>
              <a:cxnLst/>
              <a:rect r="r" b="b" t="t" l="l"/>
              <a:pathLst>
                <a:path h="1065967" w="964487">
                  <a:moveTo>
                    <a:pt x="43668" y="0"/>
                  </a:moveTo>
                  <a:lnTo>
                    <a:pt x="920819" y="0"/>
                  </a:lnTo>
                  <a:cubicBezTo>
                    <a:pt x="944936" y="0"/>
                    <a:pt x="964487" y="19551"/>
                    <a:pt x="964487" y="43668"/>
                  </a:cubicBezTo>
                  <a:lnTo>
                    <a:pt x="964487" y="1022299"/>
                  </a:lnTo>
                  <a:cubicBezTo>
                    <a:pt x="964487" y="1046416"/>
                    <a:pt x="944936" y="1065967"/>
                    <a:pt x="920819" y="1065967"/>
                  </a:cubicBezTo>
                  <a:lnTo>
                    <a:pt x="43668" y="1065967"/>
                  </a:lnTo>
                  <a:cubicBezTo>
                    <a:pt x="32087" y="1065967"/>
                    <a:pt x="20980" y="1061366"/>
                    <a:pt x="12790" y="1053177"/>
                  </a:cubicBezTo>
                  <a:cubicBezTo>
                    <a:pt x="4601" y="1044988"/>
                    <a:pt x="0" y="1033880"/>
                    <a:pt x="0" y="1022299"/>
                  </a:cubicBezTo>
                  <a:lnTo>
                    <a:pt x="0" y="43668"/>
                  </a:lnTo>
                  <a:cubicBezTo>
                    <a:pt x="0" y="19551"/>
                    <a:pt x="19551" y="0"/>
                    <a:pt x="436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718" r="-98488" b="-7635"/>
              </a:stretch>
            </a:blipFill>
            <a:ln w="66675" cap="rnd">
              <a:solidFill>
                <a:srgbClr val="FCC760"/>
              </a:solidFill>
              <a:prstDash val="solid"/>
              <a:round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8904747" y="133350"/>
            <a:ext cx="1864880" cy="1732643"/>
          </a:xfrm>
          <a:custGeom>
            <a:avLst/>
            <a:gdLst/>
            <a:ahLst/>
            <a:cxnLst/>
            <a:rect r="r" b="b" t="t" l="l"/>
            <a:pathLst>
              <a:path h="1732643" w="1864880">
                <a:moveTo>
                  <a:pt x="0" y="0"/>
                </a:moveTo>
                <a:lnTo>
                  <a:pt x="1864880" y="0"/>
                </a:lnTo>
                <a:lnTo>
                  <a:pt x="1864880" y="1732643"/>
                </a:lnTo>
                <a:lnTo>
                  <a:pt x="0" y="17326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373453" y="9026433"/>
            <a:ext cx="927468" cy="231867"/>
          </a:xfrm>
          <a:custGeom>
            <a:avLst/>
            <a:gdLst/>
            <a:ahLst/>
            <a:cxnLst/>
            <a:rect r="r" b="b" t="t" l="l"/>
            <a:pathLst>
              <a:path h="231867" w="927468">
                <a:moveTo>
                  <a:pt x="0" y="0"/>
                </a:moveTo>
                <a:lnTo>
                  <a:pt x="927468" y="0"/>
                </a:lnTo>
                <a:lnTo>
                  <a:pt x="927468" y="231867"/>
                </a:lnTo>
                <a:lnTo>
                  <a:pt x="0" y="2318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371632"/>
            <a:ext cx="7876047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50"/>
              </a:lnSpc>
            </a:pPr>
            <a:r>
              <a:rPr lang="en-US" sz="5000">
                <a:solidFill>
                  <a:srgbClr val="FFFFFF"/>
                </a:solidFill>
                <a:latin typeface="Lastica"/>
                <a:ea typeface="Lastica"/>
                <a:cs typeface="Lastica"/>
                <a:sym typeface="Lastica"/>
              </a:rPr>
              <a:t>User Module Implem</a:t>
            </a:r>
            <a:r>
              <a:rPr lang="en-US" sz="5000">
                <a:solidFill>
                  <a:srgbClr val="FFFFFF"/>
                </a:solidFill>
                <a:latin typeface="Lastica"/>
                <a:ea typeface="Lastica"/>
                <a:cs typeface="Lastica"/>
                <a:sym typeface="Lastica"/>
              </a:rPr>
              <a:t>entation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17571" y="3147702"/>
            <a:ext cx="7486178" cy="788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Implemented Featu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res: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View a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ll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users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 users by email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Add a new user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Edit an existing user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Delete a user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or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 user data in MySQL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Dis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lay us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er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records in a responsive table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Main Classes: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User entity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UserRepository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UserService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UserRestController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users.html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users.js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24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51493" y="5719318"/>
            <a:ext cx="6465224" cy="6465224"/>
          </a:xfrm>
          <a:custGeom>
            <a:avLst/>
            <a:gdLst/>
            <a:ahLst/>
            <a:cxnLst/>
            <a:rect r="r" b="b" t="t" l="l"/>
            <a:pathLst>
              <a:path h="6465224" w="6465224">
                <a:moveTo>
                  <a:pt x="0" y="0"/>
                </a:moveTo>
                <a:lnTo>
                  <a:pt x="6465224" y="0"/>
                </a:lnTo>
                <a:lnTo>
                  <a:pt x="6465224" y="6465224"/>
                </a:lnTo>
                <a:lnTo>
                  <a:pt x="0" y="646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491020" y="-3950799"/>
            <a:ext cx="6465224" cy="6465224"/>
          </a:xfrm>
          <a:custGeom>
            <a:avLst/>
            <a:gdLst/>
            <a:ahLst/>
            <a:cxnLst/>
            <a:rect r="r" b="b" t="t" l="l"/>
            <a:pathLst>
              <a:path h="6465224" w="6465224">
                <a:moveTo>
                  <a:pt x="0" y="0"/>
                </a:moveTo>
                <a:lnTo>
                  <a:pt x="6465224" y="0"/>
                </a:lnTo>
                <a:lnTo>
                  <a:pt x="6465224" y="6465224"/>
                </a:lnTo>
                <a:lnTo>
                  <a:pt x="0" y="646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432250" y="7057997"/>
            <a:ext cx="5973819" cy="5800035"/>
          </a:xfrm>
          <a:custGeom>
            <a:avLst/>
            <a:gdLst/>
            <a:ahLst/>
            <a:cxnLst/>
            <a:rect r="r" b="b" t="t" l="l"/>
            <a:pathLst>
              <a:path h="5800035" w="5973819">
                <a:moveTo>
                  <a:pt x="0" y="0"/>
                </a:moveTo>
                <a:lnTo>
                  <a:pt x="5973819" y="0"/>
                </a:lnTo>
                <a:lnTo>
                  <a:pt x="5973819" y="5800035"/>
                </a:lnTo>
                <a:lnTo>
                  <a:pt x="0" y="58000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46431" y="-2571032"/>
            <a:ext cx="5973819" cy="5800035"/>
          </a:xfrm>
          <a:custGeom>
            <a:avLst/>
            <a:gdLst/>
            <a:ahLst/>
            <a:cxnLst/>
            <a:rect r="r" b="b" t="t" l="l"/>
            <a:pathLst>
              <a:path h="5800035" w="5973819">
                <a:moveTo>
                  <a:pt x="0" y="0"/>
                </a:moveTo>
                <a:lnTo>
                  <a:pt x="5973819" y="0"/>
                </a:lnTo>
                <a:lnTo>
                  <a:pt x="5973819" y="5800035"/>
                </a:lnTo>
                <a:lnTo>
                  <a:pt x="0" y="58000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1665241" y="3328140"/>
            <a:ext cx="12560891" cy="0"/>
          </a:xfrm>
          <a:prstGeom prst="line">
            <a:avLst/>
          </a:prstGeom>
          <a:ln cap="flat" w="57150">
            <a:gradFill>
              <a:gsLst>
                <a:gs pos="0">
                  <a:srgbClr val="9B40D1">
                    <a:alpha val="100000"/>
                  </a:srgbClr>
                </a:gs>
                <a:gs pos="50000">
                  <a:srgbClr val="FC35A5">
                    <a:alpha val="100000"/>
                  </a:srgbClr>
                </a:gs>
                <a:gs pos="100000">
                  <a:srgbClr val="041021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65241" y="4704532"/>
            <a:ext cx="12560891" cy="0"/>
          </a:xfrm>
          <a:prstGeom prst="line">
            <a:avLst/>
          </a:prstGeom>
          <a:ln cap="flat" w="57150">
            <a:gradFill>
              <a:gsLst>
                <a:gs pos="0">
                  <a:srgbClr val="9B40D1">
                    <a:alpha val="100000"/>
                  </a:srgbClr>
                </a:gs>
                <a:gs pos="50000">
                  <a:srgbClr val="FC35A5">
                    <a:alpha val="100000"/>
                  </a:srgbClr>
                </a:gs>
                <a:gs pos="100000">
                  <a:srgbClr val="041021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606841" y="2254180"/>
            <a:ext cx="17260604" cy="7358826"/>
            <a:chOff x="0" y="0"/>
            <a:chExt cx="4274726" cy="18224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74726" cy="1822472"/>
            </a:xfrm>
            <a:custGeom>
              <a:avLst/>
              <a:gdLst/>
              <a:ahLst/>
              <a:cxnLst/>
              <a:rect r="r" b="b" t="t" l="l"/>
              <a:pathLst>
                <a:path h="1822472" w="4274726">
                  <a:moveTo>
                    <a:pt x="11213" y="0"/>
                  </a:moveTo>
                  <a:lnTo>
                    <a:pt x="4263513" y="0"/>
                  </a:lnTo>
                  <a:cubicBezTo>
                    <a:pt x="4269706" y="0"/>
                    <a:pt x="4274726" y="5020"/>
                    <a:pt x="4274726" y="11213"/>
                  </a:cubicBezTo>
                  <a:lnTo>
                    <a:pt x="4274726" y="1811259"/>
                  </a:lnTo>
                  <a:cubicBezTo>
                    <a:pt x="4274726" y="1817451"/>
                    <a:pt x="4269706" y="1822472"/>
                    <a:pt x="4263513" y="1822472"/>
                  </a:cubicBezTo>
                  <a:lnTo>
                    <a:pt x="11213" y="1822472"/>
                  </a:lnTo>
                  <a:cubicBezTo>
                    <a:pt x="5020" y="1822472"/>
                    <a:pt x="0" y="1817451"/>
                    <a:pt x="0" y="1811259"/>
                  </a:cubicBezTo>
                  <a:lnTo>
                    <a:pt x="0" y="11213"/>
                  </a:lnTo>
                  <a:cubicBezTo>
                    <a:pt x="0" y="5020"/>
                    <a:pt x="5020" y="0"/>
                    <a:pt x="11213" y="0"/>
                  </a:cubicBezTo>
                  <a:close/>
                </a:path>
              </a:pathLst>
            </a:custGeom>
            <a:solidFill>
              <a:srgbClr val="0B1227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57150"/>
              <a:ext cx="4274726" cy="1765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579017" y="3656212"/>
            <a:ext cx="3102039" cy="37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85"/>
              </a:lnSpc>
            </a:pPr>
            <a:r>
              <a:rPr lang="en-US" sz="2713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GET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-1056581" y="3064888"/>
            <a:ext cx="1570279" cy="157027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CC760">
                    <a:alpha val="100000"/>
                  </a:srgbClr>
                </a:gs>
                <a:gs pos="100000">
                  <a:srgbClr val="C884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sp>
        <p:nvSpPr>
          <p:cNvPr name="AutoShape 15" id="15"/>
          <p:cNvSpPr/>
          <p:nvPr/>
        </p:nvSpPr>
        <p:spPr>
          <a:xfrm>
            <a:off x="3708880" y="2158326"/>
            <a:ext cx="0" cy="16756221"/>
          </a:xfrm>
          <a:prstGeom prst="line">
            <a:avLst/>
          </a:prstGeom>
          <a:ln cap="flat" w="57150">
            <a:solidFill>
              <a:srgbClr val="C884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606841" y="3309491"/>
            <a:ext cx="17209239" cy="0"/>
          </a:xfrm>
          <a:prstGeom prst="line">
            <a:avLst/>
          </a:prstGeom>
          <a:ln cap="flat" w="57150">
            <a:solidFill>
              <a:srgbClr val="C884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0406302" y="2168455"/>
            <a:ext cx="0" cy="16756221"/>
          </a:xfrm>
          <a:prstGeom prst="line">
            <a:avLst/>
          </a:prstGeom>
          <a:ln cap="flat" w="57150">
            <a:solidFill>
              <a:srgbClr val="C884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617244" y="4424473"/>
            <a:ext cx="17209239" cy="0"/>
          </a:xfrm>
          <a:prstGeom prst="line">
            <a:avLst/>
          </a:prstGeom>
          <a:ln cap="flat" w="57150">
            <a:solidFill>
              <a:srgbClr val="C884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606841" y="5361483"/>
            <a:ext cx="17209239" cy="0"/>
          </a:xfrm>
          <a:prstGeom prst="line">
            <a:avLst/>
          </a:prstGeom>
          <a:ln cap="flat" w="57150">
            <a:solidFill>
              <a:srgbClr val="C884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606841" y="6497564"/>
            <a:ext cx="17209239" cy="0"/>
          </a:xfrm>
          <a:prstGeom prst="line">
            <a:avLst/>
          </a:prstGeom>
          <a:ln cap="flat" w="57150">
            <a:solidFill>
              <a:srgbClr val="C884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17502860" y="7057997"/>
            <a:ext cx="1570279" cy="1570279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840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-5400000">
            <a:off x="189873" y="13083154"/>
            <a:ext cx="7315200" cy="374904"/>
          </a:xfrm>
          <a:custGeom>
            <a:avLst/>
            <a:gdLst/>
            <a:ahLst/>
            <a:cxnLst/>
            <a:rect r="r" b="b" t="t" l="l"/>
            <a:pathLst>
              <a:path h="374904" w="7315200">
                <a:moveTo>
                  <a:pt x="0" y="0"/>
                </a:moveTo>
                <a:lnTo>
                  <a:pt x="7315200" y="0"/>
                </a:lnTo>
                <a:lnTo>
                  <a:pt x="7315200" y="374904"/>
                </a:lnTo>
                <a:lnTo>
                  <a:pt x="0" y="3749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170592" y="1108732"/>
            <a:ext cx="15756315" cy="947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0"/>
              </a:lnSpc>
            </a:pPr>
            <a:r>
              <a:rPr lang="en-US" b="true" sz="8000">
                <a:solidFill>
                  <a:srgbClr val="C884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REST </a:t>
            </a:r>
            <a:r>
              <a:rPr lang="en-US" b="true" sz="8000">
                <a:solidFill>
                  <a:srgbClr val="C884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API Endpoints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32336" y="2439236"/>
            <a:ext cx="1995401" cy="625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49"/>
              </a:lnSpc>
            </a:pPr>
            <a:r>
              <a:rPr lang="en-US" b="true" sz="4408">
                <a:solidFill>
                  <a:srgbClr val="FFFBF7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Method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965883" y="2386732"/>
            <a:ext cx="4130627" cy="627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49"/>
              </a:lnSpc>
            </a:pPr>
            <a:r>
              <a:rPr lang="en-US" b="true" sz="4408">
                <a:solidFill>
                  <a:srgbClr val="FFFBF7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Endpo</a:t>
            </a:r>
            <a:r>
              <a:rPr lang="en-US" b="true" sz="4408">
                <a:solidFill>
                  <a:srgbClr val="FFFBF7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int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891210" y="3656212"/>
            <a:ext cx="6486516" cy="37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85"/>
              </a:lnSpc>
            </a:pPr>
            <a:r>
              <a:rPr lang="en-US" sz="2713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/</a:t>
            </a:r>
            <a:r>
              <a:rPr lang="en-US" sz="2713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api/users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910060" y="3675632"/>
            <a:ext cx="6957385" cy="37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85"/>
              </a:lnSpc>
            </a:pPr>
            <a:r>
              <a:rPr lang="en-US" sz="2713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Get all Users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253961" y="2424832"/>
            <a:ext cx="4130627" cy="627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49"/>
              </a:lnSpc>
            </a:pPr>
            <a:r>
              <a:rPr lang="en-US" b="true" sz="4408">
                <a:solidFill>
                  <a:srgbClr val="FFFBF7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Purpo</a:t>
            </a:r>
            <a:r>
              <a:rPr lang="en-US" b="true" sz="4408">
                <a:solidFill>
                  <a:srgbClr val="FFFBF7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se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06841" y="4614280"/>
            <a:ext cx="3053181" cy="37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85"/>
              </a:lnSpc>
            </a:pPr>
            <a:r>
              <a:rPr lang="en-US" sz="2713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GET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891210" y="4679317"/>
            <a:ext cx="6486516" cy="37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85"/>
              </a:lnSpc>
            </a:pPr>
            <a:r>
              <a:rPr lang="en-US" sz="2713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/</a:t>
            </a:r>
            <a:r>
              <a:rPr lang="en-US" sz="2713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api/users/{id}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910060" y="4614280"/>
            <a:ext cx="6957385" cy="37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85"/>
              </a:lnSpc>
            </a:pPr>
            <a:r>
              <a:rPr lang="en-US" sz="2713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Get </a:t>
            </a:r>
            <a:r>
              <a:rPr lang="en-US" sz="2713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one user by ID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891210" y="5723433"/>
            <a:ext cx="6486516" cy="37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85"/>
              </a:lnSpc>
            </a:pPr>
            <a:r>
              <a:rPr lang="en-US" sz="2713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/api/users/</a:t>
            </a:r>
            <a:r>
              <a:rPr lang="en-US" sz="2713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search?email=...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919585" y="5723433"/>
            <a:ext cx="6957385" cy="37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85"/>
              </a:lnSpc>
            </a:pPr>
            <a:r>
              <a:rPr lang="en-US" sz="2713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Search users by email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47608" y="6698340"/>
            <a:ext cx="2951142" cy="37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85"/>
              </a:lnSpc>
            </a:pPr>
            <a:r>
              <a:rPr lang="en-US" sz="2713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POST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881081" y="6754739"/>
            <a:ext cx="6486516" cy="37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85"/>
              </a:lnSpc>
            </a:pPr>
            <a:r>
              <a:rPr lang="en-US" sz="2713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/a</a:t>
            </a:r>
            <a:r>
              <a:rPr lang="en-US" sz="2713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pi/users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899930" y="6717759"/>
            <a:ext cx="6957385" cy="37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85"/>
              </a:lnSpc>
            </a:pPr>
            <a:r>
              <a:rPr lang="en-US" sz="2713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Create a new user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-5400000">
            <a:off x="6849824" y="13083154"/>
            <a:ext cx="7315200" cy="374904"/>
          </a:xfrm>
          <a:custGeom>
            <a:avLst/>
            <a:gdLst/>
            <a:ahLst/>
            <a:cxnLst/>
            <a:rect r="r" b="b" t="t" l="l"/>
            <a:pathLst>
              <a:path h="374904" w="7315200">
                <a:moveTo>
                  <a:pt x="0" y="0"/>
                </a:moveTo>
                <a:lnTo>
                  <a:pt x="7315200" y="0"/>
                </a:lnTo>
                <a:lnTo>
                  <a:pt x="7315200" y="374904"/>
                </a:lnTo>
                <a:lnTo>
                  <a:pt x="0" y="3749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0" id="40"/>
          <p:cNvSpPr/>
          <p:nvPr/>
        </p:nvSpPr>
        <p:spPr>
          <a:xfrm>
            <a:off x="606841" y="7390400"/>
            <a:ext cx="17209239" cy="0"/>
          </a:xfrm>
          <a:prstGeom prst="line">
            <a:avLst/>
          </a:prstGeom>
          <a:ln cap="flat" w="57150">
            <a:solidFill>
              <a:srgbClr val="C884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1" id="41"/>
          <p:cNvSpPr txBox="true"/>
          <p:nvPr/>
        </p:nvSpPr>
        <p:spPr>
          <a:xfrm rot="0">
            <a:off x="747608" y="7591176"/>
            <a:ext cx="2951142" cy="37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85"/>
              </a:lnSpc>
            </a:pPr>
            <a:r>
              <a:rPr lang="en-US" sz="2713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PUT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881081" y="7591176"/>
            <a:ext cx="6486516" cy="37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85"/>
              </a:lnSpc>
            </a:pPr>
            <a:r>
              <a:rPr lang="en-US" sz="2713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/a</a:t>
            </a:r>
            <a:r>
              <a:rPr lang="en-US" sz="2713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pi/users/{id}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899930" y="7628525"/>
            <a:ext cx="6957385" cy="37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85"/>
              </a:lnSpc>
            </a:pPr>
            <a:r>
              <a:rPr lang="en-US" sz="2713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Update an existing user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16219" y="5723433"/>
            <a:ext cx="3064838" cy="37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85"/>
              </a:lnSpc>
            </a:pPr>
            <a:r>
              <a:rPr lang="en-US" sz="2713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GET</a:t>
            </a:r>
          </a:p>
        </p:txBody>
      </p:sp>
      <p:sp>
        <p:nvSpPr>
          <p:cNvPr name="AutoShape 45" id="45"/>
          <p:cNvSpPr/>
          <p:nvPr/>
        </p:nvSpPr>
        <p:spPr>
          <a:xfrm>
            <a:off x="606841" y="8339266"/>
            <a:ext cx="17209239" cy="0"/>
          </a:xfrm>
          <a:prstGeom prst="line">
            <a:avLst/>
          </a:prstGeom>
          <a:ln cap="flat" w="57150">
            <a:solidFill>
              <a:srgbClr val="C884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6" id="46"/>
          <p:cNvSpPr txBox="true"/>
          <p:nvPr/>
        </p:nvSpPr>
        <p:spPr>
          <a:xfrm rot="0">
            <a:off x="747608" y="8540042"/>
            <a:ext cx="2951142" cy="37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85"/>
              </a:lnSpc>
            </a:pPr>
            <a:r>
              <a:rPr lang="en-US" sz="2713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DELETE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881081" y="8540042"/>
            <a:ext cx="6486516" cy="37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85"/>
              </a:lnSpc>
            </a:pPr>
            <a:r>
              <a:rPr lang="en-US" sz="2713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/a</a:t>
            </a:r>
            <a:r>
              <a:rPr lang="en-US" sz="2713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pi/users/{id}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899930" y="8577391"/>
            <a:ext cx="6957385" cy="37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85"/>
              </a:lnSpc>
            </a:pPr>
            <a:r>
              <a:rPr lang="en-US" sz="2713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Delete a user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24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191351" y="1028700"/>
            <a:ext cx="7446144" cy="8229600"/>
            <a:chOff x="0" y="0"/>
            <a:chExt cx="964487" cy="10659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4487" cy="1065967"/>
            </a:xfrm>
            <a:custGeom>
              <a:avLst/>
              <a:gdLst/>
              <a:ahLst/>
              <a:cxnLst/>
              <a:rect r="r" b="b" t="t" l="l"/>
              <a:pathLst>
                <a:path h="1065967" w="964487">
                  <a:moveTo>
                    <a:pt x="43668" y="0"/>
                  </a:moveTo>
                  <a:lnTo>
                    <a:pt x="920819" y="0"/>
                  </a:lnTo>
                  <a:cubicBezTo>
                    <a:pt x="944936" y="0"/>
                    <a:pt x="964487" y="19551"/>
                    <a:pt x="964487" y="43668"/>
                  </a:cubicBezTo>
                  <a:lnTo>
                    <a:pt x="964487" y="1022299"/>
                  </a:lnTo>
                  <a:cubicBezTo>
                    <a:pt x="964487" y="1046416"/>
                    <a:pt x="944936" y="1065967"/>
                    <a:pt x="920819" y="1065967"/>
                  </a:cubicBezTo>
                  <a:lnTo>
                    <a:pt x="43668" y="1065967"/>
                  </a:lnTo>
                  <a:cubicBezTo>
                    <a:pt x="32087" y="1065967"/>
                    <a:pt x="20980" y="1061366"/>
                    <a:pt x="12790" y="1053177"/>
                  </a:cubicBezTo>
                  <a:cubicBezTo>
                    <a:pt x="4601" y="1044988"/>
                    <a:pt x="0" y="1033880"/>
                    <a:pt x="0" y="1022299"/>
                  </a:cubicBezTo>
                  <a:lnTo>
                    <a:pt x="0" y="43668"/>
                  </a:lnTo>
                  <a:cubicBezTo>
                    <a:pt x="0" y="19551"/>
                    <a:pt x="19551" y="0"/>
                    <a:pt x="43668" y="0"/>
                  </a:cubicBezTo>
                  <a:close/>
                </a:path>
              </a:pathLst>
            </a:custGeom>
            <a:blipFill>
              <a:blip r:embed="rId2"/>
              <a:stretch>
                <a:fillRect l="-5260" t="0" r="-5260" b="0"/>
              </a:stretch>
            </a:blipFill>
            <a:ln w="66675" cap="rnd">
              <a:solidFill>
                <a:srgbClr val="FCC760"/>
              </a:solidFill>
              <a:prstDash val="solid"/>
              <a:round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8904747" y="133350"/>
            <a:ext cx="1864880" cy="1732643"/>
          </a:xfrm>
          <a:custGeom>
            <a:avLst/>
            <a:gdLst/>
            <a:ahLst/>
            <a:cxnLst/>
            <a:rect r="r" b="b" t="t" l="l"/>
            <a:pathLst>
              <a:path h="1732643" w="1864880">
                <a:moveTo>
                  <a:pt x="0" y="0"/>
                </a:moveTo>
                <a:lnTo>
                  <a:pt x="1864880" y="0"/>
                </a:lnTo>
                <a:lnTo>
                  <a:pt x="1864880" y="1732643"/>
                </a:lnTo>
                <a:lnTo>
                  <a:pt x="0" y="17326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373453" y="9026433"/>
            <a:ext cx="927468" cy="231867"/>
          </a:xfrm>
          <a:custGeom>
            <a:avLst/>
            <a:gdLst/>
            <a:ahLst/>
            <a:cxnLst/>
            <a:rect r="r" b="b" t="t" l="l"/>
            <a:pathLst>
              <a:path h="231867" w="927468">
                <a:moveTo>
                  <a:pt x="0" y="0"/>
                </a:moveTo>
                <a:lnTo>
                  <a:pt x="927468" y="0"/>
                </a:lnTo>
                <a:lnTo>
                  <a:pt x="927468" y="231867"/>
                </a:lnTo>
                <a:lnTo>
                  <a:pt x="0" y="2318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822982"/>
            <a:ext cx="7876047" cy="250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50"/>
              </a:lnSpc>
            </a:pPr>
            <a:r>
              <a:rPr lang="en-US" sz="5000">
                <a:solidFill>
                  <a:srgbClr val="FFFFFF"/>
                </a:solidFill>
                <a:latin typeface="Lastica"/>
                <a:ea typeface="Lastica"/>
                <a:cs typeface="Lastica"/>
                <a:sym typeface="Lastica"/>
              </a:rPr>
              <a:t>JPA and Repository Implem</a:t>
            </a:r>
            <a:r>
              <a:rPr lang="en-US" sz="5000">
                <a:solidFill>
                  <a:srgbClr val="FFFFFF"/>
                </a:solidFill>
                <a:latin typeface="Lastica"/>
                <a:ea typeface="Lastica"/>
                <a:cs typeface="Lastica"/>
                <a:sym typeface="Lastica"/>
              </a:rPr>
              <a:t>entation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17571" y="3409616"/>
            <a:ext cx="7486178" cy="657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Repository Methods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findAll()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findBy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Id()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findByEmailContainingIgnore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e()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ndByEm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l()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Cus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tom JPQL qu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er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y: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findU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sers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e()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Up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uer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y: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upd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at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ePho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ById()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elete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ById()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abas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Config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urati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MySQL datab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ase: iste240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Hibernate: ddl-auto=update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Database created automatically if it does not exist</a:t>
            </a:r>
          </a:p>
          <a:p>
            <a:pPr algn="just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24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191351" y="1028700"/>
            <a:ext cx="7446144" cy="8229600"/>
            <a:chOff x="0" y="0"/>
            <a:chExt cx="964487" cy="10659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4487" cy="1065967"/>
            </a:xfrm>
            <a:custGeom>
              <a:avLst/>
              <a:gdLst/>
              <a:ahLst/>
              <a:cxnLst/>
              <a:rect r="r" b="b" t="t" l="l"/>
              <a:pathLst>
                <a:path h="1065967" w="964487">
                  <a:moveTo>
                    <a:pt x="43668" y="0"/>
                  </a:moveTo>
                  <a:lnTo>
                    <a:pt x="920819" y="0"/>
                  </a:lnTo>
                  <a:cubicBezTo>
                    <a:pt x="944936" y="0"/>
                    <a:pt x="964487" y="19551"/>
                    <a:pt x="964487" y="43668"/>
                  </a:cubicBezTo>
                  <a:lnTo>
                    <a:pt x="964487" y="1022299"/>
                  </a:lnTo>
                  <a:cubicBezTo>
                    <a:pt x="964487" y="1046416"/>
                    <a:pt x="944936" y="1065967"/>
                    <a:pt x="920819" y="1065967"/>
                  </a:cubicBezTo>
                  <a:lnTo>
                    <a:pt x="43668" y="1065967"/>
                  </a:lnTo>
                  <a:cubicBezTo>
                    <a:pt x="32087" y="1065967"/>
                    <a:pt x="20980" y="1061366"/>
                    <a:pt x="12790" y="1053177"/>
                  </a:cubicBezTo>
                  <a:cubicBezTo>
                    <a:pt x="4601" y="1044988"/>
                    <a:pt x="0" y="1033880"/>
                    <a:pt x="0" y="1022299"/>
                  </a:cubicBezTo>
                  <a:lnTo>
                    <a:pt x="0" y="43668"/>
                  </a:lnTo>
                  <a:cubicBezTo>
                    <a:pt x="0" y="19551"/>
                    <a:pt x="19551" y="0"/>
                    <a:pt x="43668" y="0"/>
                  </a:cubicBezTo>
                  <a:close/>
                </a:path>
              </a:pathLst>
            </a:custGeom>
            <a:blipFill>
              <a:blip r:embed="rId2"/>
              <a:stretch>
                <a:fillRect l="-119598" t="0" r="-15553" b="0"/>
              </a:stretch>
            </a:blipFill>
            <a:ln w="66675" cap="rnd">
              <a:solidFill>
                <a:srgbClr val="FCC760"/>
              </a:solidFill>
              <a:prstDash val="solid"/>
              <a:round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8904747" y="133350"/>
            <a:ext cx="1864880" cy="1732643"/>
          </a:xfrm>
          <a:custGeom>
            <a:avLst/>
            <a:gdLst/>
            <a:ahLst/>
            <a:cxnLst/>
            <a:rect r="r" b="b" t="t" l="l"/>
            <a:pathLst>
              <a:path h="1732643" w="1864880">
                <a:moveTo>
                  <a:pt x="0" y="0"/>
                </a:moveTo>
                <a:lnTo>
                  <a:pt x="1864880" y="0"/>
                </a:lnTo>
                <a:lnTo>
                  <a:pt x="1864880" y="1732643"/>
                </a:lnTo>
                <a:lnTo>
                  <a:pt x="0" y="17326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373453" y="9026433"/>
            <a:ext cx="927468" cy="231867"/>
          </a:xfrm>
          <a:custGeom>
            <a:avLst/>
            <a:gdLst/>
            <a:ahLst/>
            <a:cxnLst/>
            <a:rect r="r" b="b" t="t" l="l"/>
            <a:pathLst>
              <a:path h="231867" w="927468">
                <a:moveTo>
                  <a:pt x="0" y="0"/>
                </a:moveTo>
                <a:lnTo>
                  <a:pt x="927468" y="0"/>
                </a:lnTo>
                <a:lnTo>
                  <a:pt x="927468" y="231867"/>
                </a:lnTo>
                <a:lnTo>
                  <a:pt x="0" y="2318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904875"/>
            <a:ext cx="7876047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50"/>
              </a:lnSpc>
            </a:pPr>
            <a:r>
              <a:rPr lang="en-US" sz="5000">
                <a:solidFill>
                  <a:srgbClr val="FFFFFF"/>
                </a:solidFill>
                <a:latin typeface="Lastica"/>
                <a:ea typeface="Lastica"/>
                <a:cs typeface="Lastica"/>
                <a:sym typeface="Lastica"/>
              </a:rPr>
              <a:t>fRONTEND DESIGN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524125"/>
            <a:ext cx="7486178" cy="788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Frontend Features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</a:t>
            </a: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nding page w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ith navigation links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User man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age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ent p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age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Boot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strap sty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espo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nsive tab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layout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dd/edit form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Search bar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Edit and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elete b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utton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for 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each ro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Loadi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ng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mess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age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Success and 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error alerts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rontend Technologies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HTML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CSS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Boo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tstrap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JavaScript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fetch() API</a:t>
            </a:r>
          </a:p>
          <a:p>
            <a:pPr algn="just">
              <a:lnSpc>
                <a:spcPts val="349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83365" y="500784"/>
            <a:ext cx="3029107" cy="303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7" indent="-280669" lvl="1">
              <a:lnSpc>
                <a:spcPts val="2157"/>
              </a:lnSpc>
              <a:buFont typeface="Arial"/>
              <a:buChar char="•"/>
            </a:pPr>
            <a:r>
              <a:rPr lang="en-US" b="true" sz="2599" spc="-51">
                <a:gradFill>
                  <a:gsLst>
                    <a:gs pos="0">
                      <a:srgbClr val="FCC760">
                        <a:alpha val="100000"/>
                      </a:srgbClr>
                    </a:gs>
                    <a:gs pos="100000">
                      <a:srgbClr val="C88400">
                        <a:alpha val="100000"/>
                      </a:srgbClr>
                    </a:gs>
                  </a:gsLst>
                  <a:lin ang="0"/>
                </a:gradFill>
                <a:latin typeface="TT Chocolates Bold"/>
                <a:ea typeface="TT Chocolates Bold"/>
                <a:cs typeface="TT Chocolates Bold"/>
                <a:sym typeface="TT Chocolates Bold"/>
              </a:rPr>
              <a:t>Osama Ahmad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219740" y="3391711"/>
            <a:ext cx="7546070" cy="7543617"/>
          </a:xfrm>
          <a:custGeom>
            <a:avLst/>
            <a:gdLst/>
            <a:ahLst/>
            <a:cxnLst/>
            <a:rect r="r" b="b" t="t" l="l"/>
            <a:pathLst>
              <a:path h="7543617" w="7546070">
                <a:moveTo>
                  <a:pt x="7546071" y="7543617"/>
                </a:moveTo>
                <a:lnTo>
                  <a:pt x="0" y="7543617"/>
                </a:lnTo>
                <a:lnTo>
                  <a:pt x="0" y="0"/>
                </a:lnTo>
                <a:lnTo>
                  <a:pt x="7546071" y="0"/>
                </a:lnTo>
                <a:lnTo>
                  <a:pt x="7546071" y="7543617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07910" y="-209550"/>
            <a:ext cx="7546070" cy="7543617"/>
          </a:xfrm>
          <a:custGeom>
            <a:avLst/>
            <a:gdLst/>
            <a:ahLst/>
            <a:cxnLst/>
            <a:rect r="r" b="b" t="t" l="l"/>
            <a:pathLst>
              <a:path h="7543617" w="7546070">
                <a:moveTo>
                  <a:pt x="0" y="0"/>
                </a:moveTo>
                <a:lnTo>
                  <a:pt x="7546070" y="0"/>
                </a:lnTo>
                <a:lnTo>
                  <a:pt x="7546070" y="7543617"/>
                </a:lnTo>
                <a:lnTo>
                  <a:pt x="0" y="75436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331832" y="1028700"/>
            <a:ext cx="927468" cy="231867"/>
          </a:xfrm>
          <a:custGeom>
            <a:avLst/>
            <a:gdLst/>
            <a:ahLst/>
            <a:cxnLst/>
            <a:rect r="r" b="b" t="t" l="l"/>
            <a:pathLst>
              <a:path h="231867" w="927468">
                <a:moveTo>
                  <a:pt x="0" y="0"/>
                </a:moveTo>
                <a:lnTo>
                  <a:pt x="927468" y="0"/>
                </a:lnTo>
                <a:lnTo>
                  <a:pt x="927468" y="231867"/>
                </a:lnTo>
                <a:lnTo>
                  <a:pt x="0" y="2318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8955042"/>
            <a:ext cx="927468" cy="231867"/>
          </a:xfrm>
          <a:custGeom>
            <a:avLst/>
            <a:gdLst/>
            <a:ahLst/>
            <a:cxnLst/>
            <a:rect r="r" b="b" t="t" l="l"/>
            <a:pathLst>
              <a:path h="231867" w="927468">
                <a:moveTo>
                  <a:pt x="0" y="0"/>
                </a:moveTo>
                <a:lnTo>
                  <a:pt x="927468" y="0"/>
                </a:lnTo>
                <a:lnTo>
                  <a:pt x="927468" y="231866"/>
                </a:lnTo>
                <a:lnTo>
                  <a:pt x="0" y="2318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7" id="7">
            <a:hlinkClick action="ppaction://media"/>
          </p:cNvPr>
          <p:cNvPicPr>
            <a:picLocks noChangeAspect="true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7"/>
          <a:srcRect l="0" t="0" r="15009" b="0"/>
          <a:stretch>
            <a:fillRect/>
          </a:stretch>
        </p:blipFill>
        <p:spPr>
          <a:xfrm flipH="false" flipV="false" rot="0">
            <a:off x="3201258" y="1748415"/>
            <a:ext cx="12434468" cy="82296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413122" y="293202"/>
            <a:ext cx="17461757" cy="1455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41"/>
              </a:lnSpc>
              <a:spcBef>
                <a:spcPct val="0"/>
              </a:spcBef>
            </a:pPr>
            <a:r>
              <a:rPr lang="en-US" sz="7958">
                <a:solidFill>
                  <a:srgbClr val="FFFFFF"/>
                </a:solidFill>
                <a:latin typeface="Lastica"/>
                <a:ea typeface="Lastica"/>
                <a:cs typeface="Lastica"/>
                <a:sym typeface="Lastica"/>
              </a:rPr>
              <a:t>Demo: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98170" y="5161374"/>
            <a:ext cx="17461757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Lastica"/>
                <a:ea typeface="Lastica"/>
                <a:cs typeface="Lastica"/>
                <a:sym typeface="Lastica"/>
              </a:rPr>
              <a:t>Demo: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DAHASMwOza4</dc:identifier>
  <dcterms:modified xsi:type="dcterms:W3CDTF">2011-08-01T06:04:30Z</dcterms:modified>
  <cp:revision>1</cp:revision>
  <dc:title>FIELD BOOKING SYSTEM (phase 2)</dc:title>
</cp:coreProperties>
</file>