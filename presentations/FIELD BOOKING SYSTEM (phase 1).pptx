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</p:sldIdLst>
  <p:sldSz cx="18288000" cy="10287000"/>
  <p:notesSz cx="6858000" cy="9144000"/>
  <p:embeddedFontLst>
    <p:embeddedFont>
      <p:font typeface="Lastica" panose="020B0604020202020204" charset="0"/>
      <p:regular r:id="rId5"/>
    </p:embeddedFont>
    <p:embeddedFont>
      <p:font typeface="Poppins" panose="00000500000000000000" pitchFamily="2" charset="0"/>
      <p:regular r:id="rId6"/>
    </p:embeddedFont>
    <p:embeddedFont>
      <p:font typeface="Poppins Bold" panose="00000800000000000000" charset="0"/>
      <p:regular r:id="rId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7" d="100"/>
          <a:sy n="47" d="100"/>
        </p:scale>
        <p:origin x="500" y="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tableStyles" Target="tableStyles.xml"/><Relationship Id="rId5" Type="http://schemas.openxmlformats.org/officeDocument/2006/relationships/font" Target="fonts/font1.fntdata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13" b="-9313"/>
            </a:stretch>
          </a:blipFill>
        </p:spPr>
        <p:txBody>
          <a:bodyPr/>
          <a:lstStyle/>
          <a:p>
            <a:endParaRPr lang="en-AE" dirty="0"/>
          </a:p>
        </p:txBody>
      </p:sp>
      <p:sp>
        <p:nvSpPr>
          <p:cNvPr id="3" name="Freeform 3"/>
          <p:cNvSpPr/>
          <p:nvPr/>
        </p:nvSpPr>
        <p:spPr>
          <a:xfrm flipH="1" flipV="1">
            <a:off x="11219740" y="3391711"/>
            <a:ext cx="7546070" cy="7543617"/>
          </a:xfrm>
          <a:custGeom>
            <a:avLst/>
            <a:gdLst/>
            <a:ahLst/>
            <a:cxnLst/>
            <a:rect l="l" t="t" r="r" b="b"/>
            <a:pathLst>
              <a:path w="7546070" h="7543617">
                <a:moveTo>
                  <a:pt x="7546071" y="7543617"/>
                </a:moveTo>
                <a:lnTo>
                  <a:pt x="0" y="7543617"/>
                </a:lnTo>
                <a:lnTo>
                  <a:pt x="0" y="0"/>
                </a:lnTo>
                <a:lnTo>
                  <a:pt x="7546071" y="0"/>
                </a:lnTo>
                <a:lnTo>
                  <a:pt x="7546071" y="7543617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4" name="Freeform 4"/>
          <p:cNvSpPr/>
          <p:nvPr/>
        </p:nvSpPr>
        <p:spPr>
          <a:xfrm>
            <a:off x="-307910" y="-209550"/>
            <a:ext cx="7546070" cy="7543617"/>
          </a:xfrm>
          <a:custGeom>
            <a:avLst/>
            <a:gdLst/>
            <a:ahLst/>
            <a:cxnLst/>
            <a:rect l="l" t="t" r="r" b="b"/>
            <a:pathLst>
              <a:path w="7546070" h="7543617">
                <a:moveTo>
                  <a:pt x="0" y="0"/>
                </a:moveTo>
                <a:lnTo>
                  <a:pt x="7546070" y="0"/>
                </a:lnTo>
                <a:lnTo>
                  <a:pt x="7546070" y="7543617"/>
                </a:lnTo>
                <a:lnTo>
                  <a:pt x="0" y="754361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5" name="TextBox 5"/>
          <p:cNvSpPr txBox="1"/>
          <p:nvPr/>
        </p:nvSpPr>
        <p:spPr>
          <a:xfrm>
            <a:off x="398170" y="4002613"/>
            <a:ext cx="17461757" cy="1455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141"/>
              </a:lnSpc>
              <a:spcBef>
                <a:spcPct val="0"/>
              </a:spcBef>
            </a:pPr>
            <a:r>
              <a:rPr lang="en-US" sz="7958" dirty="0">
                <a:solidFill>
                  <a:srgbClr val="FFFFFF"/>
                </a:solidFill>
                <a:latin typeface="Lastica"/>
                <a:ea typeface="Lastica"/>
                <a:cs typeface="Lastica"/>
                <a:sym typeface="Lastica"/>
              </a:rPr>
              <a:t>FIELD BOOKING SYSTEM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4458830" y="5530222"/>
            <a:ext cx="9370339" cy="1365066"/>
            <a:chOff x="0" y="0"/>
            <a:chExt cx="2789686" cy="4064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789686" cy="406400"/>
            </a:xfrm>
            <a:custGeom>
              <a:avLst/>
              <a:gdLst/>
              <a:ahLst/>
              <a:cxnLst/>
              <a:rect l="l" t="t" r="r" b="b"/>
              <a:pathLst>
                <a:path w="2789686" h="406400">
                  <a:moveTo>
                    <a:pt x="2586486" y="0"/>
                  </a:moveTo>
                  <a:cubicBezTo>
                    <a:pt x="2698710" y="0"/>
                    <a:pt x="2789686" y="90976"/>
                    <a:pt x="2789686" y="203200"/>
                  </a:cubicBezTo>
                  <a:cubicBezTo>
                    <a:pt x="2789686" y="315424"/>
                    <a:pt x="2698710" y="406400"/>
                    <a:pt x="2586486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ln w="85725" cap="sq">
              <a:solidFill>
                <a:srgbClr val="FCC760"/>
              </a:solidFill>
              <a:prstDash val="solid"/>
              <a:miter/>
            </a:ln>
          </p:spPr>
          <p:txBody>
            <a:bodyPr/>
            <a:lstStyle/>
            <a:p>
              <a:endParaRPr lang="en-AE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57150"/>
              <a:ext cx="2789686" cy="463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6331832" y="1028700"/>
            <a:ext cx="927468" cy="231867"/>
          </a:xfrm>
          <a:custGeom>
            <a:avLst/>
            <a:gdLst/>
            <a:ahLst/>
            <a:cxnLst/>
            <a:rect l="l" t="t" r="r" b="b"/>
            <a:pathLst>
              <a:path w="927468" h="231867">
                <a:moveTo>
                  <a:pt x="0" y="0"/>
                </a:moveTo>
                <a:lnTo>
                  <a:pt x="927468" y="0"/>
                </a:lnTo>
                <a:lnTo>
                  <a:pt x="927468" y="231867"/>
                </a:lnTo>
                <a:lnTo>
                  <a:pt x="0" y="23186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10" name="Freeform 10"/>
          <p:cNvSpPr/>
          <p:nvPr/>
        </p:nvSpPr>
        <p:spPr>
          <a:xfrm>
            <a:off x="1028700" y="8955042"/>
            <a:ext cx="927468" cy="231867"/>
          </a:xfrm>
          <a:custGeom>
            <a:avLst/>
            <a:gdLst/>
            <a:ahLst/>
            <a:cxnLst/>
            <a:rect l="l" t="t" r="r" b="b"/>
            <a:pathLst>
              <a:path w="927468" h="231867">
                <a:moveTo>
                  <a:pt x="0" y="0"/>
                </a:moveTo>
                <a:lnTo>
                  <a:pt x="927468" y="0"/>
                </a:lnTo>
                <a:lnTo>
                  <a:pt x="927468" y="231866"/>
                </a:lnTo>
                <a:lnTo>
                  <a:pt x="0" y="23186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11" name="TextBox 11"/>
          <p:cNvSpPr txBox="1"/>
          <p:nvPr/>
        </p:nvSpPr>
        <p:spPr>
          <a:xfrm>
            <a:off x="4393779" y="5796831"/>
            <a:ext cx="9500442" cy="717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dirty="0">
                <a:solidFill>
                  <a:srgbClr val="FCC760"/>
                </a:solidFill>
                <a:latin typeface="Poppins"/>
                <a:ea typeface="Poppins"/>
                <a:cs typeface="Poppins"/>
                <a:sym typeface="Poppins"/>
              </a:rPr>
              <a:t>Group 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26CD75-18BE-91FA-F2C6-099EA0A4ED54}"/>
              </a:ext>
            </a:extLst>
          </p:cNvPr>
          <p:cNvSpPr txBox="1"/>
          <p:nvPr/>
        </p:nvSpPr>
        <p:spPr>
          <a:xfrm>
            <a:off x="4109583" y="6835279"/>
            <a:ext cx="10068832" cy="35117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2800" dirty="0">
                <a:solidFill>
                  <a:srgbClr val="FCC760"/>
                </a:solidFill>
                <a:latin typeface="Poppins"/>
                <a:ea typeface="Poppins"/>
                <a:cs typeface="Poppins"/>
                <a:sym typeface="Poppins"/>
              </a:rPr>
              <a:t>Group Members:</a:t>
            </a:r>
          </a:p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2800" dirty="0">
                <a:solidFill>
                  <a:srgbClr val="FCC760"/>
                </a:solidFill>
                <a:latin typeface="Poppins"/>
                <a:ea typeface="Poppins"/>
                <a:cs typeface="Poppins"/>
                <a:sym typeface="Poppins"/>
              </a:rPr>
              <a:t>Mohammed Adil (415006855)</a:t>
            </a:r>
          </a:p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2800" dirty="0">
                <a:solidFill>
                  <a:srgbClr val="FCC760"/>
                </a:solidFill>
                <a:latin typeface="Poppins"/>
                <a:ea typeface="Poppins"/>
                <a:cs typeface="Poppins"/>
                <a:sym typeface="Poppins"/>
              </a:rPr>
              <a:t>Osama Ahmad (764000269)</a:t>
            </a:r>
          </a:p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2800" dirty="0">
                <a:solidFill>
                  <a:srgbClr val="FCC760"/>
                </a:solidFill>
                <a:latin typeface="Poppins"/>
                <a:ea typeface="Poppins"/>
                <a:cs typeface="Poppins"/>
                <a:sym typeface="Poppins"/>
              </a:rPr>
              <a:t>Araz Hafez (433006927)</a:t>
            </a:r>
          </a:p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2800" dirty="0">
                <a:solidFill>
                  <a:srgbClr val="FCC760"/>
                </a:solidFill>
                <a:latin typeface="Poppins"/>
                <a:ea typeface="Poppins"/>
                <a:cs typeface="Poppins"/>
                <a:sym typeface="Poppins"/>
              </a:rPr>
              <a:t>Muhammed Rashid (421007820)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4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291032" y="1028700"/>
            <a:ext cx="7446144" cy="8229600"/>
            <a:chOff x="0" y="0"/>
            <a:chExt cx="964487" cy="10659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64487" cy="1065967"/>
            </a:xfrm>
            <a:custGeom>
              <a:avLst/>
              <a:gdLst/>
              <a:ahLst/>
              <a:cxnLst/>
              <a:rect l="l" t="t" r="r" b="b"/>
              <a:pathLst>
                <a:path w="964487" h="1065967">
                  <a:moveTo>
                    <a:pt x="43668" y="0"/>
                  </a:moveTo>
                  <a:lnTo>
                    <a:pt x="920819" y="0"/>
                  </a:lnTo>
                  <a:cubicBezTo>
                    <a:pt x="944936" y="0"/>
                    <a:pt x="964487" y="19551"/>
                    <a:pt x="964487" y="43668"/>
                  </a:cubicBezTo>
                  <a:lnTo>
                    <a:pt x="964487" y="1022299"/>
                  </a:lnTo>
                  <a:cubicBezTo>
                    <a:pt x="964487" y="1046416"/>
                    <a:pt x="944936" y="1065967"/>
                    <a:pt x="920819" y="1065967"/>
                  </a:cubicBezTo>
                  <a:lnTo>
                    <a:pt x="43668" y="1065967"/>
                  </a:lnTo>
                  <a:cubicBezTo>
                    <a:pt x="32087" y="1065967"/>
                    <a:pt x="20980" y="1061366"/>
                    <a:pt x="12790" y="1053177"/>
                  </a:cubicBezTo>
                  <a:cubicBezTo>
                    <a:pt x="4601" y="1044988"/>
                    <a:pt x="0" y="1033880"/>
                    <a:pt x="0" y="1022299"/>
                  </a:cubicBezTo>
                  <a:lnTo>
                    <a:pt x="0" y="43668"/>
                  </a:lnTo>
                  <a:cubicBezTo>
                    <a:pt x="0" y="19551"/>
                    <a:pt x="19551" y="0"/>
                    <a:pt x="43668" y="0"/>
                  </a:cubicBezTo>
                  <a:close/>
                </a:path>
              </a:pathLst>
            </a:custGeom>
            <a:blipFill>
              <a:blip r:embed="rId2"/>
              <a:stretch>
                <a:fillRect l="-66399" r="-30083"/>
              </a:stretch>
            </a:blipFill>
            <a:ln w="66675" cap="rnd">
              <a:solidFill>
                <a:srgbClr val="FCC760"/>
              </a:solidFill>
              <a:prstDash val="solid"/>
              <a:round/>
            </a:ln>
          </p:spPr>
          <p:txBody>
            <a:bodyPr/>
            <a:lstStyle/>
            <a:p>
              <a:endParaRPr lang="en-AE"/>
            </a:p>
          </p:txBody>
        </p:sp>
      </p:grpSp>
      <p:sp>
        <p:nvSpPr>
          <p:cNvPr id="4" name="Freeform 4"/>
          <p:cNvSpPr/>
          <p:nvPr/>
        </p:nvSpPr>
        <p:spPr>
          <a:xfrm>
            <a:off x="8944620" y="452883"/>
            <a:ext cx="1661085" cy="1543299"/>
          </a:xfrm>
          <a:custGeom>
            <a:avLst/>
            <a:gdLst/>
            <a:ahLst/>
            <a:cxnLst/>
            <a:rect l="l" t="t" r="r" b="b"/>
            <a:pathLst>
              <a:path w="1661085" h="1543299">
                <a:moveTo>
                  <a:pt x="0" y="0"/>
                </a:moveTo>
                <a:lnTo>
                  <a:pt x="1661085" y="0"/>
                </a:lnTo>
                <a:lnTo>
                  <a:pt x="1661085" y="1543300"/>
                </a:lnTo>
                <a:lnTo>
                  <a:pt x="0" y="15433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5" name="Freeform 5"/>
          <p:cNvSpPr/>
          <p:nvPr/>
        </p:nvSpPr>
        <p:spPr>
          <a:xfrm>
            <a:off x="5900313" y="7764409"/>
            <a:ext cx="3243687" cy="2522591"/>
          </a:xfrm>
          <a:custGeom>
            <a:avLst/>
            <a:gdLst/>
            <a:ahLst/>
            <a:cxnLst/>
            <a:rect l="l" t="t" r="r" b="b"/>
            <a:pathLst>
              <a:path w="3243687" h="2522591">
                <a:moveTo>
                  <a:pt x="0" y="0"/>
                </a:moveTo>
                <a:lnTo>
                  <a:pt x="3243687" y="0"/>
                </a:lnTo>
                <a:lnTo>
                  <a:pt x="3243687" y="2522591"/>
                </a:lnTo>
                <a:lnTo>
                  <a:pt x="0" y="252259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6" name="TextBox 6"/>
          <p:cNvSpPr txBox="1"/>
          <p:nvPr/>
        </p:nvSpPr>
        <p:spPr>
          <a:xfrm>
            <a:off x="1028700" y="1834258"/>
            <a:ext cx="9168583" cy="920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ct val="0"/>
              </a:spcBef>
            </a:pPr>
            <a:r>
              <a:rPr lang="en-US" sz="5000">
                <a:solidFill>
                  <a:srgbClr val="FFFFFF"/>
                </a:solidFill>
                <a:latin typeface="Lastica"/>
                <a:ea typeface="Lastica"/>
                <a:cs typeface="Lastica"/>
                <a:sym typeface="Lastica"/>
              </a:rPr>
              <a:t>What Is our idea?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2895267"/>
            <a:ext cx="8808629" cy="5732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259"/>
              </a:lnSpc>
            </a:pPr>
            <a:r>
              <a:rPr lang="en-US" sz="232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Ou</a:t>
            </a:r>
            <a:r>
              <a:rPr lang="en-US" sz="2328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 idea is to build a </a:t>
            </a:r>
            <a:r>
              <a:rPr lang="en-US" sz="2328" b="1" u="none" strike="noStrik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Digital Field Booking System</a:t>
            </a:r>
            <a:r>
              <a:rPr lang="en-US" sz="2328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called </a:t>
            </a:r>
            <a:r>
              <a:rPr lang="en-US" sz="2328" b="1" u="none" strike="noStrik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FieldReserve</a:t>
            </a:r>
            <a:r>
              <a:rPr lang="en-US" sz="2328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  <a:p>
            <a:pPr algn="just">
              <a:lnSpc>
                <a:spcPts val="3259"/>
              </a:lnSpc>
            </a:pPr>
            <a:r>
              <a:rPr lang="en-US" sz="2328" b="1" u="none" strike="noStrik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FieldReserve</a:t>
            </a:r>
            <a:r>
              <a:rPr lang="en-US" sz="2328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is a web-based application that allows sports enthusiasts and community groups to browse available sports fields and submit booking requests in a simple and conflict-free way.</a:t>
            </a:r>
          </a:p>
          <a:p>
            <a:pPr algn="just">
              <a:lnSpc>
                <a:spcPts val="3259"/>
              </a:lnSpc>
            </a:pPr>
            <a:r>
              <a:rPr lang="en-US" sz="2328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Unlike complex scheduling platforms or phone calls, our system focuses on:</a:t>
            </a:r>
          </a:p>
          <a:p>
            <a:pPr marL="502716" lvl="1" indent="-251358" algn="just">
              <a:lnSpc>
                <a:spcPts val="3259"/>
              </a:lnSpc>
              <a:buFont typeface="Arial"/>
              <a:buChar char="•"/>
            </a:pPr>
            <a:r>
              <a:rPr lang="en-US" sz="2328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Simplified reservations</a:t>
            </a:r>
          </a:p>
          <a:p>
            <a:pPr marL="502716" lvl="1" indent="-251358" algn="just">
              <a:lnSpc>
                <a:spcPts val="3259"/>
              </a:lnSpc>
              <a:buFont typeface="Arial"/>
              <a:buChar char="•"/>
            </a:pPr>
            <a:r>
              <a:rPr lang="en-US" sz="2328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Clear field availability</a:t>
            </a:r>
          </a:p>
          <a:p>
            <a:pPr marL="502716" lvl="1" indent="-251358" algn="just">
              <a:lnSpc>
                <a:spcPts val="3259"/>
              </a:lnSpc>
              <a:buFont typeface="Arial"/>
              <a:buChar char="•"/>
            </a:pPr>
            <a:r>
              <a:rPr lang="en-US" sz="2328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Persistent user selections</a:t>
            </a:r>
          </a:p>
          <a:p>
            <a:pPr algn="just">
              <a:lnSpc>
                <a:spcPts val="3259"/>
              </a:lnSpc>
            </a:pPr>
            <a:r>
              <a:rPr lang="en-US" sz="2328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goal is to provide a safe, easy-to-use, and efficient solution for managing community sports field reservations.</a:t>
            </a:r>
          </a:p>
          <a:p>
            <a:pPr algn="just">
              <a:lnSpc>
                <a:spcPts val="3259"/>
              </a:lnSpc>
            </a:pPr>
            <a:endParaRPr lang="en-US" sz="2328" u="none" strike="noStrik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4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616080" y="2991113"/>
            <a:ext cx="9055839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50"/>
              </a:lnSpc>
              <a:spcBef>
                <a:spcPct val="0"/>
              </a:spcBef>
            </a:pPr>
            <a:r>
              <a:rPr lang="en-US" sz="5000">
                <a:solidFill>
                  <a:srgbClr val="FFFFFF"/>
                </a:solidFill>
                <a:latin typeface="Lastica"/>
                <a:ea typeface="Lastica"/>
                <a:cs typeface="Lastica"/>
                <a:sym typeface="Lastica"/>
              </a:rPr>
              <a:t>H</a:t>
            </a:r>
            <a:r>
              <a:rPr lang="en-US" sz="5000" u="none" strike="noStrike">
                <a:solidFill>
                  <a:srgbClr val="FFFFFF"/>
                </a:solidFill>
                <a:latin typeface="Lastica"/>
                <a:ea typeface="Lastica"/>
                <a:cs typeface="Lastica"/>
                <a:sym typeface="Lastica"/>
              </a:rPr>
              <a:t>ow Will It Work?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870963" y="4514590"/>
            <a:ext cx="4562894" cy="1442531"/>
            <a:chOff x="0" y="0"/>
            <a:chExt cx="1695573" cy="53604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695573" cy="536045"/>
            </a:xfrm>
            <a:custGeom>
              <a:avLst/>
              <a:gdLst/>
              <a:ahLst/>
              <a:cxnLst/>
              <a:rect l="l" t="t" r="r" b="b"/>
              <a:pathLst>
                <a:path w="1695573" h="536045">
                  <a:moveTo>
                    <a:pt x="1492373" y="0"/>
                  </a:moveTo>
                  <a:cubicBezTo>
                    <a:pt x="1604597" y="0"/>
                    <a:pt x="1695573" y="119998"/>
                    <a:pt x="1695573" y="268022"/>
                  </a:cubicBezTo>
                  <a:cubicBezTo>
                    <a:pt x="1695573" y="416047"/>
                    <a:pt x="1604597" y="536045"/>
                    <a:pt x="1492373" y="536045"/>
                  </a:cubicBezTo>
                  <a:lnTo>
                    <a:pt x="203200" y="536045"/>
                  </a:lnTo>
                  <a:cubicBezTo>
                    <a:pt x="90976" y="536045"/>
                    <a:pt x="0" y="416047"/>
                    <a:pt x="0" y="268022"/>
                  </a:cubicBezTo>
                  <a:cubicBezTo>
                    <a:pt x="0" y="119998"/>
                    <a:pt x="90976" y="0"/>
                    <a:pt x="203200" y="0"/>
                  </a:cubicBezTo>
                  <a:close/>
                </a:path>
              </a:pathLst>
            </a:custGeom>
            <a:ln w="85725" cap="sq">
              <a:solidFill>
                <a:srgbClr val="FCC760"/>
              </a:solidFill>
              <a:prstDash val="solid"/>
              <a:miter/>
            </a:ln>
          </p:spPr>
          <p:txBody>
            <a:bodyPr/>
            <a:lstStyle/>
            <a:p>
              <a:endParaRPr lang="en-AE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57150"/>
              <a:ext cx="1695573" cy="5931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084032" y="4556589"/>
            <a:ext cx="4140418" cy="1317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Users browse available sports fields through a simple web interface</a:t>
            </a:r>
          </a:p>
        </p:txBody>
      </p:sp>
      <p:sp>
        <p:nvSpPr>
          <p:cNvPr id="7" name="Freeform 7"/>
          <p:cNvSpPr/>
          <p:nvPr/>
        </p:nvSpPr>
        <p:spPr>
          <a:xfrm flipH="1" flipV="1">
            <a:off x="15044313" y="0"/>
            <a:ext cx="3243687" cy="2522591"/>
          </a:xfrm>
          <a:custGeom>
            <a:avLst/>
            <a:gdLst/>
            <a:ahLst/>
            <a:cxnLst/>
            <a:rect l="l" t="t" r="r" b="b"/>
            <a:pathLst>
              <a:path w="3243687" h="2522591">
                <a:moveTo>
                  <a:pt x="3243687" y="2522591"/>
                </a:moveTo>
                <a:lnTo>
                  <a:pt x="0" y="2522591"/>
                </a:lnTo>
                <a:lnTo>
                  <a:pt x="0" y="0"/>
                </a:lnTo>
                <a:lnTo>
                  <a:pt x="3243687" y="0"/>
                </a:lnTo>
                <a:lnTo>
                  <a:pt x="3243687" y="2522591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8" name="Freeform 8"/>
          <p:cNvSpPr/>
          <p:nvPr/>
        </p:nvSpPr>
        <p:spPr>
          <a:xfrm flipH="1">
            <a:off x="0" y="7764409"/>
            <a:ext cx="3243687" cy="2522591"/>
          </a:xfrm>
          <a:custGeom>
            <a:avLst/>
            <a:gdLst/>
            <a:ahLst/>
            <a:cxnLst/>
            <a:rect l="l" t="t" r="r" b="b"/>
            <a:pathLst>
              <a:path w="3243687" h="2522591">
                <a:moveTo>
                  <a:pt x="3243687" y="0"/>
                </a:moveTo>
                <a:lnTo>
                  <a:pt x="0" y="0"/>
                </a:lnTo>
                <a:lnTo>
                  <a:pt x="0" y="2522591"/>
                </a:lnTo>
                <a:lnTo>
                  <a:pt x="3243687" y="2522591"/>
                </a:lnTo>
                <a:lnTo>
                  <a:pt x="324368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E"/>
          </a:p>
        </p:txBody>
      </p:sp>
      <p:grpSp>
        <p:nvGrpSpPr>
          <p:cNvPr id="9" name="Group 9"/>
          <p:cNvGrpSpPr/>
          <p:nvPr/>
        </p:nvGrpSpPr>
        <p:grpSpPr>
          <a:xfrm>
            <a:off x="6862553" y="4514590"/>
            <a:ext cx="4562894" cy="1442531"/>
            <a:chOff x="0" y="0"/>
            <a:chExt cx="1695573" cy="53604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695573" cy="536045"/>
            </a:xfrm>
            <a:custGeom>
              <a:avLst/>
              <a:gdLst/>
              <a:ahLst/>
              <a:cxnLst/>
              <a:rect l="l" t="t" r="r" b="b"/>
              <a:pathLst>
                <a:path w="1695573" h="536045">
                  <a:moveTo>
                    <a:pt x="1492373" y="0"/>
                  </a:moveTo>
                  <a:cubicBezTo>
                    <a:pt x="1604597" y="0"/>
                    <a:pt x="1695573" y="119998"/>
                    <a:pt x="1695573" y="268022"/>
                  </a:cubicBezTo>
                  <a:cubicBezTo>
                    <a:pt x="1695573" y="416047"/>
                    <a:pt x="1604597" y="536045"/>
                    <a:pt x="1492373" y="536045"/>
                  </a:cubicBezTo>
                  <a:lnTo>
                    <a:pt x="203200" y="536045"/>
                  </a:lnTo>
                  <a:cubicBezTo>
                    <a:pt x="90976" y="536045"/>
                    <a:pt x="0" y="416047"/>
                    <a:pt x="0" y="268022"/>
                  </a:cubicBezTo>
                  <a:cubicBezTo>
                    <a:pt x="0" y="119998"/>
                    <a:pt x="90976" y="0"/>
                    <a:pt x="203200" y="0"/>
                  </a:cubicBezTo>
                  <a:close/>
                </a:path>
              </a:pathLst>
            </a:custGeom>
            <a:ln w="85725" cap="sq">
              <a:solidFill>
                <a:srgbClr val="FCC760"/>
              </a:solidFill>
              <a:prstDash val="solid"/>
              <a:miter/>
            </a:ln>
          </p:spPr>
          <p:txBody>
            <a:bodyPr/>
            <a:lstStyle/>
            <a:p>
              <a:endParaRPr lang="en-AE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1695573" cy="5931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7073791" y="4543705"/>
            <a:ext cx="4140418" cy="1317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Availability is displayed automatically based on existing bookings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1854072" y="4514590"/>
            <a:ext cx="4562894" cy="1442531"/>
            <a:chOff x="0" y="0"/>
            <a:chExt cx="1695573" cy="53604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695573" cy="536045"/>
            </a:xfrm>
            <a:custGeom>
              <a:avLst/>
              <a:gdLst/>
              <a:ahLst/>
              <a:cxnLst/>
              <a:rect l="l" t="t" r="r" b="b"/>
              <a:pathLst>
                <a:path w="1695573" h="536045">
                  <a:moveTo>
                    <a:pt x="1492373" y="0"/>
                  </a:moveTo>
                  <a:cubicBezTo>
                    <a:pt x="1604597" y="0"/>
                    <a:pt x="1695573" y="119998"/>
                    <a:pt x="1695573" y="268022"/>
                  </a:cubicBezTo>
                  <a:cubicBezTo>
                    <a:pt x="1695573" y="416047"/>
                    <a:pt x="1604597" y="536045"/>
                    <a:pt x="1492373" y="536045"/>
                  </a:cubicBezTo>
                  <a:lnTo>
                    <a:pt x="203200" y="536045"/>
                  </a:lnTo>
                  <a:cubicBezTo>
                    <a:pt x="90976" y="536045"/>
                    <a:pt x="0" y="416047"/>
                    <a:pt x="0" y="268022"/>
                  </a:cubicBezTo>
                  <a:cubicBezTo>
                    <a:pt x="0" y="119998"/>
                    <a:pt x="90976" y="0"/>
                    <a:pt x="203200" y="0"/>
                  </a:cubicBezTo>
                  <a:close/>
                </a:path>
              </a:pathLst>
            </a:custGeom>
            <a:ln w="85725" cap="sq">
              <a:solidFill>
                <a:srgbClr val="FCC760"/>
              </a:solidFill>
              <a:prstDash val="solid"/>
              <a:miter/>
            </a:ln>
          </p:spPr>
          <p:txBody>
            <a:bodyPr/>
            <a:lstStyle/>
            <a:p>
              <a:endParaRPr lang="en-AE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57150"/>
              <a:ext cx="1695573" cy="5931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2067141" y="4556589"/>
            <a:ext cx="4140418" cy="1317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Users submit booking requests with selected date and field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4191300" y="6182138"/>
            <a:ext cx="4562894" cy="1442531"/>
            <a:chOff x="0" y="0"/>
            <a:chExt cx="1695573" cy="536045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695573" cy="536045"/>
            </a:xfrm>
            <a:custGeom>
              <a:avLst/>
              <a:gdLst/>
              <a:ahLst/>
              <a:cxnLst/>
              <a:rect l="l" t="t" r="r" b="b"/>
              <a:pathLst>
                <a:path w="1695573" h="536045">
                  <a:moveTo>
                    <a:pt x="1492373" y="0"/>
                  </a:moveTo>
                  <a:cubicBezTo>
                    <a:pt x="1604597" y="0"/>
                    <a:pt x="1695573" y="119998"/>
                    <a:pt x="1695573" y="268022"/>
                  </a:cubicBezTo>
                  <a:cubicBezTo>
                    <a:pt x="1695573" y="416047"/>
                    <a:pt x="1604597" y="536045"/>
                    <a:pt x="1492373" y="536045"/>
                  </a:cubicBezTo>
                  <a:lnTo>
                    <a:pt x="203200" y="536045"/>
                  </a:lnTo>
                  <a:cubicBezTo>
                    <a:pt x="90976" y="536045"/>
                    <a:pt x="0" y="416047"/>
                    <a:pt x="0" y="268022"/>
                  </a:cubicBezTo>
                  <a:cubicBezTo>
                    <a:pt x="0" y="119998"/>
                    <a:pt x="90976" y="0"/>
                    <a:pt x="203200" y="0"/>
                  </a:cubicBezTo>
                  <a:close/>
                </a:path>
              </a:pathLst>
            </a:custGeom>
            <a:ln w="85725" cap="sq">
              <a:solidFill>
                <a:srgbClr val="FCC760"/>
              </a:solidFill>
              <a:prstDash val="solid"/>
              <a:miter/>
            </a:ln>
          </p:spPr>
          <p:txBody>
            <a:bodyPr/>
            <a:lstStyle/>
            <a:p>
              <a:endParaRPr lang="en-AE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57150"/>
              <a:ext cx="1695573" cy="5931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4402538" y="6211253"/>
            <a:ext cx="4140418" cy="1317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system validates requests and prevents basic conflicts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9533806" y="6182138"/>
            <a:ext cx="4562894" cy="1442531"/>
            <a:chOff x="0" y="0"/>
            <a:chExt cx="1695573" cy="53604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695573" cy="536045"/>
            </a:xfrm>
            <a:custGeom>
              <a:avLst/>
              <a:gdLst/>
              <a:ahLst/>
              <a:cxnLst/>
              <a:rect l="l" t="t" r="r" b="b"/>
              <a:pathLst>
                <a:path w="1695573" h="536045">
                  <a:moveTo>
                    <a:pt x="1492373" y="0"/>
                  </a:moveTo>
                  <a:cubicBezTo>
                    <a:pt x="1604597" y="0"/>
                    <a:pt x="1695573" y="119998"/>
                    <a:pt x="1695573" y="268022"/>
                  </a:cubicBezTo>
                  <a:cubicBezTo>
                    <a:pt x="1695573" y="416047"/>
                    <a:pt x="1604597" y="536045"/>
                    <a:pt x="1492373" y="536045"/>
                  </a:cubicBezTo>
                  <a:lnTo>
                    <a:pt x="203200" y="536045"/>
                  </a:lnTo>
                  <a:cubicBezTo>
                    <a:pt x="90976" y="536045"/>
                    <a:pt x="0" y="416047"/>
                    <a:pt x="0" y="268022"/>
                  </a:cubicBezTo>
                  <a:cubicBezTo>
                    <a:pt x="0" y="119998"/>
                    <a:pt x="90976" y="0"/>
                    <a:pt x="203200" y="0"/>
                  </a:cubicBezTo>
                  <a:close/>
                </a:path>
              </a:pathLst>
            </a:custGeom>
            <a:ln w="85725" cap="sq">
              <a:solidFill>
                <a:srgbClr val="FCC760"/>
              </a:solidFill>
              <a:prstDash val="solid"/>
              <a:miter/>
            </a:ln>
          </p:spPr>
          <p:txBody>
            <a:bodyPr/>
            <a:lstStyle/>
            <a:p>
              <a:endParaRPr lang="en-AE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57150"/>
              <a:ext cx="1695573" cy="5931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9745044" y="6211253"/>
            <a:ext cx="4140418" cy="1317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Send confirmation email to the user including date and time of the booking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168</Words>
  <Application>Microsoft Office PowerPoint</Application>
  <PresentationFormat>Custom</PresentationFormat>
  <Paragraphs>21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Calibri</vt:lpstr>
      <vt:lpstr>Poppins Bold</vt:lpstr>
      <vt:lpstr>Lastica</vt:lpstr>
      <vt:lpstr>Poppins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FIELD BOOKING SYSTEM (phase 1)</dc:title>
  <cp:lastModifiedBy>Mohammed Adil (RIT)</cp:lastModifiedBy>
  <cp:revision>5</cp:revision>
  <dcterms:created xsi:type="dcterms:W3CDTF">2006-08-16T00:00:00Z</dcterms:created>
  <dcterms:modified xsi:type="dcterms:W3CDTF">2026-02-05T17:34:34Z</dcterms:modified>
  <dc:identifier>DAHASMwOza4</dc:identifier>
</cp:coreProperties>
</file>